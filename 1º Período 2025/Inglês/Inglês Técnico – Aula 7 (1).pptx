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Gill Sans"/>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GillSans-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GillSans-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27d914fa9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27d914fa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27d914fa9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27d914fa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27d914fa9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27d914fa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27d914fa9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27d914fa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27d914fa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427d914fa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27d914fa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427d914fa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427d914fa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g3427d914fa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427d914fa9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427d914fa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17" name="Google Shape;17;p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20" name="Google Shape;20;p2"/>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4" name="Google Shape;24;p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3"/>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8" name="Shape 28"/>
        <p:cNvGrpSpPr/>
        <p:nvPr/>
      </p:nvGrpSpPr>
      <p:grpSpPr>
        <a:xfrm>
          <a:off x="0" y="0"/>
          <a:ext cx="0" cy="0"/>
          <a:chOff x="0" y="0"/>
          <a:chExt cx="0" cy="0"/>
        </a:xfrm>
      </p:grpSpPr>
      <p:sp>
        <p:nvSpPr>
          <p:cNvPr id="29" name="Google Shape;29;p4"/>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1" name="Google Shape;31;p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34" name="Google Shape;34;p4"/>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5" name="Shape 35"/>
        <p:cNvGrpSpPr/>
        <p:nvPr/>
      </p:nvGrpSpPr>
      <p:grpSpPr>
        <a:xfrm>
          <a:off x="0" y="0"/>
          <a:ext cx="0" cy="0"/>
          <a:chOff x="0" y="0"/>
          <a:chExt cx="0" cy="0"/>
        </a:xfrm>
      </p:grpSpPr>
      <p:sp>
        <p:nvSpPr>
          <p:cNvPr id="36" name="Google Shape;36;p5"/>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8" name="Google Shape;38;p5"/>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9" name="Google Shape;39;p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5"/>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3" name="Shape 43"/>
        <p:cNvGrpSpPr/>
        <p:nvPr/>
      </p:nvGrpSpPr>
      <p:grpSpPr>
        <a:xfrm>
          <a:off x="0" y="0"/>
          <a:ext cx="0" cy="0"/>
          <a:chOff x="0" y="0"/>
          <a:chExt cx="0" cy="0"/>
        </a:xfrm>
      </p:grpSpPr>
      <p:sp>
        <p:nvSpPr>
          <p:cNvPr id="44" name="Google Shape;44;p6"/>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6" name="Google Shape;46;p6"/>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7" name="Google Shape;47;p6"/>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6"/>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52" name="Google Shape;52;p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3" name="Shape 53"/>
        <p:cNvGrpSpPr/>
        <p:nvPr/>
      </p:nvGrpSpPr>
      <p:grpSpPr>
        <a:xfrm>
          <a:off x="0" y="0"/>
          <a:ext cx="0" cy="0"/>
          <a:chOff x="0" y="0"/>
          <a:chExt cx="0" cy="0"/>
        </a:xfrm>
      </p:grpSpPr>
      <p:sp>
        <p:nvSpPr>
          <p:cNvPr id="54" name="Google Shape;54;p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58" name="Google Shape;58;p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63" name="Shape 63"/>
        <p:cNvGrpSpPr/>
        <p:nvPr/>
      </p:nvGrpSpPr>
      <p:grpSpPr>
        <a:xfrm>
          <a:off x="0" y="0"/>
          <a:ext cx="0" cy="0"/>
          <a:chOff x="0" y="0"/>
          <a:chExt cx="0" cy="0"/>
        </a:xfrm>
      </p:grpSpPr>
      <p:sp>
        <p:nvSpPr>
          <p:cNvPr id="64" name="Google Shape;64;p9"/>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9"/>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70" name="Google Shape;70;p9"/>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71" name="Shape 71"/>
        <p:cNvGrpSpPr/>
        <p:nvPr/>
      </p:nvGrpSpPr>
      <p:grpSpPr>
        <a:xfrm>
          <a:off x="0" y="0"/>
          <a:ext cx="0" cy="0"/>
          <a:chOff x="0" y="0"/>
          <a:chExt cx="0" cy="0"/>
        </a:xfrm>
      </p:grpSpPr>
      <p:grpSp>
        <p:nvGrpSpPr>
          <p:cNvPr id="72" name="Google Shape;72;p10"/>
          <p:cNvGrpSpPr/>
          <p:nvPr/>
        </p:nvGrpSpPr>
        <p:grpSpPr>
          <a:xfrm>
            <a:off x="7477387" y="482170"/>
            <a:ext cx="4074533" cy="5149101"/>
            <a:chOff x="7477387" y="482170"/>
            <a:chExt cx="4074533" cy="5149101"/>
          </a:xfrm>
        </p:grpSpPr>
        <p:sp>
          <p:nvSpPr>
            <p:cNvPr id="73" name="Google Shape;73;p10"/>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294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10"/>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p:nvPr>
            <p:ph idx="2" type="pic"/>
          </p:nvPr>
        </p:nvSpPr>
        <p:spPr>
          <a:xfrm>
            <a:off x="8124389" y="1122542"/>
            <a:ext cx="2791171" cy="3866327"/>
          </a:xfrm>
          <a:prstGeom prst="rect">
            <a:avLst/>
          </a:prstGeom>
          <a:solidFill>
            <a:srgbClr val="D8D8D8"/>
          </a:solidFill>
          <a:ln>
            <a:noFill/>
          </a:ln>
        </p:spPr>
      </p:sp>
      <p:sp>
        <p:nvSpPr>
          <p:cNvPr id="77" name="Google Shape;77;p10"/>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10"/>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81" name="Google Shape;81;p10"/>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1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11"/>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89" name="Shape 89"/>
        <p:cNvGrpSpPr/>
        <p:nvPr/>
      </p:nvGrpSpPr>
      <p:grpSpPr>
        <a:xfrm>
          <a:off x="0" y="0"/>
          <a:ext cx="0" cy="0"/>
          <a:chOff x="0" y="0"/>
          <a:chExt cx="0" cy="0"/>
        </a:xfrm>
      </p:grpSpPr>
      <p:sp>
        <p:nvSpPr>
          <p:cNvPr id="90" name="Google Shape;90;p12"/>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1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95" name="Google Shape;95;p12"/>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 name="Google Shape;7;p1"/>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888888"/>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1" name="Google Shape;11;p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888888"/>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2" name="Google Shape;12;p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2800"/>
              <a:buFont typeface="Arial"/>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3"/>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INGLÊS TÉCNICO – AULA 7</a:t>
            </a:r>
            <a:endParaRPr/>
          </a:p>
        </p:txBody>
      </p:sp>
      <p:sp>
        <p:nvSpPr>
          <p:cNvPr id="101" name="Google Shape;101;p13"/>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MARCELA HARDMAN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CONJUNÇÕES</a:t>
            </a:r>
            <a:endParaRPr/>
          </a:p>
        </p:txBody>
      </p:sp>
      <p:sp>
        <p:nvSpPr>
          <p:cNvPr id="107" name="Google Shape;107;p1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just">
              <a:lnSpc>
                <a:spcPct val="120000"/>
              </a:lnSpc>
              <a:spcBef>
                <a:spcPts val="0"/>
              </a:spcBef>
              <a:spcAft>
                <a:spcPts val="0"/>
              </a:spcAft>
              <a:buSzPts val="3200"/>
              <a:buChar char="•"/>
            </a:pPr>
            <a:r>
              <a:rPr lang="en-US" sz="3200"/>
              <a:t>Conjunções são termos utilizados para relacionar duas sentenças ou dois termos semelhantes (ou de mesma função). Podem ter mais de uma palavra (locuções conjuntivas) e sua função é a de introduzir orações coordenadas e subordinadas.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1451579" y="804519"/>
            <a:ext cx="9603300" cy="1049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200"/>
              </a:spcAft>
              <a:buClr>
                <a:schemeClr val="dk1"/>
              </a:buClr>
              <a:buSzPts val="1100"/>
              <a:buFont typeface="Arial"/>
              <a:buNone/>
            </a:pPr>
            <a:r>
              <a:rPr b="1" lang="en-US" sz="3000">
                <a:latin typeface="Arial"/>
                <a:ea typeface="Arial"/>
                <a:cs typeface="Arial"/>
                <a:sym typeface="Arial"/>
              </a:rPr>
              <a:t>Coordinating Conjunctions (Conjunções Coordenativas)</a:t>
            </a:r>
            <a:endParaRPr sz="3000"/>
          </a:p>
        </p:txBody>
      </p:sp>
      <p:sp>
        <p:nvSpPr>
          <p:cNvPr id="113" name="Google Shape;113;p15"/>
          <p:cNvSpPr txBox="1"/>
          <p:nvPr>
            <p:ph idx="1" type="body"/>
          </p:nvPr>
        </p:nvSpPr>
        <p:spPr>
          <a:xfrm>
            <a:off x="642950" y="2015724"/>
            <a:ext cx="10411800" cy="39315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200"/>
              </a:spcBef>
              <a:spcAft>
                <a:spcPts val="0"/>
              </a:spcAft>
              <a:buClr>
                <a:schemeClr val="dk1"/>
              </a:buClr>
              <a:buSzPct val="100000"/>
              <a:buFont typeface="Arial"/>
              <a:buNone/>
            </a:pPr>
            <a:r>
              <a:rPr b="1" lang="en-US" sz="1100">
                <a:latin typeface="Arial"/>
                <a:ea typeface="Arial"/>
                <a:cs typeface="Arial"/>
                <a:sym typeface="Arial"/>
              </a:rPr>
              <a:t>. </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ct val="39285"/>
              <a:buFont typeface="Arial"/>
              <a:buNone/>
            </a:pPr>
            <a:r>
              <a:rPr lang="en-US" sz="2800">
                <a:latin typeface="Arial"/>
                <a:ea typeface="Arial"/>
                <a:cs typeface="Arial"/>
                <a:sym typeface="Arial"/>
              </a:rPr>
              <a:t>Elas conectam </a:t>
            </a:r>
            <a:r>
              <a:rPr b="1" lang="en-US" sz="2800">
                <a:latin typeface="Arial"/>
                <a:ea typeface="Arial"/>
                <a:cs typeface="Arial"/>
                <a:sym typeface="Arial"/>
              </a:rPr>
              <a:t>elementos de mesma importância</a:t>
            </a:r>
            <a:r>
              <a:rPr lang="en-US" sz="2800">
                <a:latin typeface="Arial"/>
                <a:ea typeface="Arial"/>
                <a:cs typeface="Arial"/>
                <a:sym typeface="Arial"/>
              </a:rPr>
              <a:t>: palavras, frases ou orações independentes.</a:t>
            </a:r>
            <a:endParaRPr sz="2800">
              <a:latin typeface="Arial"/>
              <a:ea typeface="Arial"/>
              <a:cs typeface="Arial"/>
              <a:sym typeface="Arial"/>
            </a:endParaRPr>
          </a:p>
          <a:p>
            <a:pPr indent="0" lvl="0" marL="0" rtl="0" algn="l">
              <a:lnSpc>
                <a:spcPct val="115000"/>
              </a:lnSpc>
              <a:spcBef>
                <a:spcPts val="1200"/>
              </a:spcBef>
              <a:spcAft>
                <a:spcPts val="0"/>
              </a:spcAft>
              <a:buClr>
                <a:schemeClr val="dk1"/>
              </a:buClr>
              <a:buSzPct val="39285"/>
              <a:buFont typeface="Arial"/>
              <a:buNone/>
            </a:pPr>
            <a:r>
              <a:rPr b="1" lang="en-US" sz="2800">
                <a:latin typeface="Arial"/>
                <a:ea typeface="Arial"/>
                <a:cs typeface="Arial"/>
                <a:sym typeface="Arial"/>
              </a:rPr>
              <a:t>Principais (lembre-se do acrônimo FANBOYS):</a:t>
            </a:r>
            <a:endParaRPr b="1" sz="2800">
              <a:latin typeface="Arial"/>
              <a:ea typeface="Arial"/>
              <a:cs typeface="Arial"/>
              <a:sym typeface="Arial"/>
            </a:endParaRPr>
          </a:p>
          <a:p>
            <a:pPr indent="-353060" lvl="0" marL="457200" rtl="0" algn="l">
              <a:lnSpc>
                <a:spcPct val="115000"/>
              </a:lnSpc>
              <a:spcBef>
                <a:spcPts val="1200"/>
              </a:spcBef>
              <a:spcAft>
                <a:spcPts val="0"/>
              </a:spcAft>
              <a:buClr>
                <a:schemeClr val="dk1"/>
              </a:buClr>
              <a:buSzPct val="100000"/>
              <a:buChar char="●"/>
            </a:pPr>
            <a:r>
              <a:rPr b="1" lang="en-US" sz="2800">
                <a:latin typeface="Arial"/>
                <a:ea typeface="Arial"/>
                <a:cs typeface="Arial"/>
                <a:sym typeface="Arial"/>
              </a:rPr>
              <a:t>F</a:t>
            </a:r>
            <a:r>
              <a:rPr lang="en-US" sz="2800">
                <a:latin typeface="Arial"/>
                <a:ea typeface="Arial"/>
                <a:cs typeface="Arial"/>
                <a:sym typeface="Arial"/>
              </a:rPr>
              <a:t>or (pois)</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A</a:t>
            </a:r>
            <a:r>
              <a:rPr lang="en-US" sz="2800">
                <a:latin typeface="Arial"/>
                <a:ea typeface="Arial"/>
                <a:cs typeface="Arial"/>
                <a:sym typeface="Arial"/>
              </a:rPr>
              <a:t>nd (e)</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N</a:t>
            </a:r>
            <a:r>
              <a:rPr lang="en-US" sz="2800">
                <a:latin typeface="Arial"/>
                <a:ea typeface="Arial"/>
                <a:cs typeface="Arial"/>
                <a:sym typeface="Arial"/>
              </a:rPr>
              <a:t>or (nem)</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B</a:t>
            </a:r>
            <a:r>
              <a:rPr lang="en-US" sz="2800">
                <a:latin typeface="Arial"/>
                <a:ea typeface="Arial"/>
                <a:cs typeface="Arial"/>
                <a:sym typeface="Arial"/>
              </a:rPr>
              <a:t>ut (mas)</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O</a:t>
            </a:r>
            <a:r>
              <a:rPr lang="en-US" sz="2800">
                <a:latin typeface="Arial"/>
                <a:ea typeface="Arial"/>
                <a:cs typeface="Arial"/>
                <a:sym typeface="Arial"/>
              </a:rPr>
              <a:t>r (ou)</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Y</a:t>
            </a:r>
            <a:r>
              <a:rPr lang="en-US" sz="2800">
                <a:latin typeface="Arial"/>
                <a:ea typeface="Arial"/>
                <a:cs typeface="Arial"/>
                <a:sym typeface="Arial"/>
              </a:rPr>
              <a:t>et (ainda assim, porém)</a:t>
            </a:r>
            <a:endParaRPr sz="2800">
              <a:latin typeface="Arial"/>
              <a:ea typeface="Arial"/>
              <a:cs typeface="Arial"/>
              <a:sym typeface="Arial"/>
            </a:endParaRPr>
          </a:p>
          <a:p>
            <a:pPr indent="-353060" lvl="0" marL="457200" rtl="0" algn="l">
              <a:lnSpc>
                <a:spcPct val="115000"/>
              </a:lnSpc>
              <a:spcBef>
                <a:spcPts val="0"/>
              </a:spcBef>
              <a:spcAft>
                <a:spcPts val="0"/>
              </a:spcAft>
              <a:buClr>
                <a:schemeClr val="dk1"/>
              </a:buClr>
              <a:buSzPct val="100000"/>
              <a:buChar char="●"/>
            </a:pPr>
            <a:r>
              <a:rPr b="1" lang="en-US" sz="2800">
                <a:latin typeface="Arial"/>
                <a:ea typeface="Arial"/>
                <a:cs typeface="Arial"/>
                <a:sym typeface="Arial"/>
              </a:rPr>
              <a:t>S</a:t>
            </a:r>
            <a:r>
              <a:rPr lang="en-US" sz="2800">
                <a:latin typeface="Arial"/>
                <a:ea typeface="Arial"/>
                <a:cs typeface="Arial"/>
                <a:sym typeface="Arial"/>
              </a:rPr>
              <a:t>o (então)</a:t>
            </a:r>
            <a:endParaRPr sz="28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9" name="Google Shape;119;p16"/>
          <p:cNvSpPr txBox="1"/>
          <p:nvPr>
            <p:ph idx="1" type="body"/>
          </p:nvPr>
        </p:nvSpPr>
        <p:spPr>
          <a:xfrm>
            <a:off x="1451579" y="2015732"/>
            <a:ext cx="9603300" cy="34506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b="1" lang="en-US" sz="2800">
                <a:latin typeface="Arial"/>
                <a:ea typeface="Arial"/>
                <a:cs typeface="Arial"/>
                <a:sym typeface="Arial"/>
              </a:rPr>
              <a:t>Exemplos:</a:t>
            </a:r>
            <a:endParaRPr b="1" sz="2800">
              <a:latin typeface="Arial"/>
              <a:ea typeface="Arial"/>
              <a:cs typeface="Arial"/>
              <a:sym typeface="Arial"/>
            </a:endParaRPr>
          </a:p>
          <a:p>
            <a:pPr indent="-406400" lvl="0" marL="457200" rtl="0" algn="l">
              <a:lnSpc>
                <a:spcPct val="115000"/>
              </a:lnSpc>
              <a:spcBef>
                <a:spcPts val="1200"/>
              </a:spcBef>
              <a:spcAft>
                <a:spcPts val="0"/>
              </a:spcAft>
              <a:buClr>
                <a:schemeClr val="dk1"/>
              </a:buClr>
              <a:buSzPts val="2800"/>
              <a:buChar char="●"/>
            </a:pPr>
            <a:r>
              <a:rPr lang="en-US" sz="2800">
                <a:latin typeface="Arial"/>
                <a:ea typeface="Arial"/>
                <a:cs typeface="Arial"/>
                <a:sym typeface="Arial"/>
              </a:rPr>
              <a:t>I like Python, </a:t>
            </a:r>
            <a:r>
              <a:rPr b="1" lang="en-US" sz="2800">
                <a:latin typeface="Arial"/>
                <a:ea typeface="Arial"/>
                <a:cs typeface="Arial"/>
                <a:sym typeface="Arial"/>
              </a:rPr>
              <a:t>and</a:t>
            </a:r>
            <a:r>
              <a:rPr lang="en-US" sz="2800">
                <a:latin typeface="Arial"/>
                <a:ea typeface="Arial"/>
                <a:cs typeface="Arial"/>
                <a:sym typeface="Arial"/>
              </a:rPr>
              <a:t> I also enjoy Java.</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The code is clean, </a:t>
            </a:r>
            <a:r>
              <a:rPr b="1" lang="en-US" sz="2800">
                <a:latin typeface="Arial"/>
                <a:ea typeface="Arial"/>
                <a:cs typeface="Arial"/>
                <a:sym typeface="Arial"/>
              </a:rPr>
              <a:t>but</a:t>
            </a:r>
            <a:r>
              <a:rPr lang="en-US" sz="2800">
                <a:latin typeface="Arial"/>
                <a:ea typeface="Arial"/>
                <a:cs typeface="Arial"/>
                <a:sym typeface="Arial"/>
              </a:rPr>
              <a:t> it needs more comments.</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You can use JavaScript, </a:t>
            </a:r>
            <a:r>
              <a:rPr b="1" lang="en-US" sz="2800">
                <a:latin typeface="Arial"/>
                <a:ea typeface="Arial"/>
                <a:cs typeface="Arial"/>
                <a:sym typeface="Arial"/>
              </a:rPr>
              <a:t>or</a:t>
            </a:r>
            <a:r>
              <a:rPr lang="en-US" sz="2800">
                <a:latin typeface="Arial"/>
                <a:ea typeface="Arial"/>
                <a:cs typeface="Arial"/>
                <a:sym typeface="Arial"/>
              </a:rPr>
              <a:t> you can choose TypeScript.</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It’s late, </a:t>
            </a:r>
            <a:r>
              <a:rPr b="1" lang="en-US" sz="2800">
                <a:latin typeface="Arial"/>
                <a:ea typeface="Arial"/>
                <a:cs typeface="Arial"/>
                <a:sym typeface="Arial"/>
              </a:rPr>
              <a:t>so</a:t>
            </a:r>
            <a:r>
              <a:rPr lang="en-US" sz="2800">
                <a:latin typeface="Arial"/>
                <a:ea typeface="Arial"/>
                <a:cs typeface="Arial"/>
                <a:sym typeface="Arial"/>
              </a:rPr>
              <a:t> we should finish this tomorrow.</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He didn’t study, </a:t>
            </a:r>
            <a:r>
              <a:rPr b="1" lang="en-US" sz="2800">
                <a:latin typeface="Arial"/>
                <a:ea typeface="Arial"/>
                <a:cs typeface="Arial"/>
                <a:sym typeface="Arial"/>
              </a:rPr>
              <a:t>yet</a:t>
            </a:r>
            <a:r>
              <a:rPr lang="en-US" sz="2800">
                <a:latin typeface="Arial"/>
                <a:ea typeface="Arial"/>
                <a:cs typeface="Arial"/>
                <a:sym typeface="Arial"/>
              </a:rPr>
              <a:t> he passed the exam</a:t>
            </a:r>
            <a:endParaRPr sz="28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1451579" y="804519"/>
            <a:ext cx="9603300" cy="1049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200"/>
              </a:spcAft>
              <a:buClr>
                <a:schemeClr val="dk1"/>
              </a:buClr>
              <a:buSzPts val="1100"/>
              <a:buFont typeface="Arial"/>
              <a:buNone/>
            </a:pPr>
            <a:r>
              <a:rPr b="1" lang="en-US">
                <a:latin typeface="Arial"/>
                <a:ea typeface="Arial"/>
                <a:cs typeface="Arial"/>
                <a:sym typeface="Arial"/>
              </a:rPr>
              <a:t>Subordinating Conjunctions (Conjunções Subordinativas)</a:t>
            </a:r>
            <a:endParaRPr/>
          </a:p>
        </p:txBody>
      </p:sp>
      <p:sp>
        <p:nvSpPr>
          <p:cNvPr id="125" name="Google Shape;125;p17"/>
          <p:cNvSpPr txBox="1"/>
          <p:nvPr>
            <p:ph idx="1" type="body"/>
          </p:nvPr>
        </p:nvSpPr>
        <p:spPr>
          <a:xfrm>
            <a:off x="285750" y="1853625"/>
            <a:ext cx="11448000" cy="4486200"/>
          </a:xfrm>
          <a:prstGeom prst="rect">
            <a:avLst/>
          </a:prstGeom>
        </p:spPr>
        <p:txBody>
          <a:bodyPr anchorCtr="0" anchor="t" bIns="45700" lIns="91425" spcFirstLastPara="1" rIns="91425" wrap="square" tIns="45700">
            <a:normAutofit fontScale="62500" lnSpcReduction="10000"/>
          </a:bodyPr>
          <a:lstStyle/>
          <a:p>
            <a:pPr indent="0" lvl="0" marL="0" rtl="0" algn="l">
              <a:lnSpc>
                <a:spcPct val="115000"/>
              </a:lnSpc>
              <a:spcBef>
                <a:spcPts val="1200"/>
              </a:spcBef>
              <a:spcAft>
                <a:spcPts val="0"/>
              </a:spcAft>
              <a:buClr>
                <a:schemeClr val="dk1"/>
              </a:buClr>
              <a:buSzPct val="100000"/>
              <a:buFont typeface="Arial"/>
              <a:buNone/>
            </a:pPr>
            <a:r>
              <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ct val="36666"/>
              <a:buFont typeface="Arial"/>
              <a:buNone/>
            </a:pPr>
            <a:r>
              <a:rPr lang="en-US" sz="3000">
                <a:latin typeface="Arial"/>
                <a:ea typeface="Arial"/>
                <a:cs typeface="Arial"/>
                <a:sym typeface="Arial"/>
              </a:rPr>
              <a:t>Ligam uma oração principal a uma oração subordinada, </a:t>
            </a:r>
            <a:r>
              <a:rPr b="1" lang="en-US" sz="3000">
                <a:latin typeface="Arial"/>
                <a:ea typeface="Arial"/>
                <a:cs typeface="Arial"/>
                <a:sym typeface="Arial"/>
              </a:rPr>
              <a:t>indicando causa, tempo, condição, etc.</a:t>
            </a:r>
            <a:endParaRPr b="1" sz="3000">
              <a:latin typeface="Arial"/>
              <a:ea typeface="Arial"/>
              <a:cs typeface="Arial"/>
              <a:sym typeface="Arial"/>
            </a:endParaRPr>
          </a:p>
          <a:p>
            <a:pPr indent="0" lvl="0" marL="0" rtl="0" algn="l">
              <a:lnSpc>
                <a:spcPct val="115000"/>
              </a:lnSpc>
              <a:spcBef>
                <a:spcPts val="1200"/>
              </a:spcBef>
              <a:spcAft>
                <a:spcPts val="0"/>
              </a:spcAft>
              <a:buClr>
                <a:schemeClr val="dk1"/>
              </a:buClr>
              <a:buSzPct val="36666"/>
              <a:buFont typeface="Arial"/>
              <a:buNone/>
            </a:pPr>
            <a:r>
              <a:rPr b="1" lang="en-US" sz="3000">
                <a:latin typeface="Arial"/>
                <a:ea typeface="Arial"/>
                <a:cs typeface="Arial"/>
                <a:sym typeface="Arial"/>
              </a:rPr>
              <a:t>Principais:</a:t>
            </a:r>
            <a:endParaRPr b="1" sz="3000">
              <a:latin typeface="Arial"/>
              <a:ea typeface="Arial"/>
              <a:cs typeface="Arial"/>
              <a:sym typeface="Arial"/>
            </a:endParaRPr>
          </a:p>
          <a:p>
            <a:pPr indent="-347662" lvl="0" marL="457200" rtl="0" algn="l">
              <a:lnSpc>
                <a:spcPct val="115000"/>
              </a:lnSpc>
              <a:spcBef>
                <a:spcPts val="1200"/>
              </a:spcBef>
              <a:spcAft>
                <a:spcPts val="0"/>
              </a:spcAft>
              <a:buClr>
                <a:schemeClr val="dk1"/>
              </a:buClr>
              <a:buSzPct val="100000"/>
              <a:buChar char="●"/>
            </a:pPr>
            <a:r>
              <a:rPr b="1" lang="en-US" sz="3000">
                <a:latin typeface="Arial"/>
                <a:ea typeface="Arial"/>
                <a:cs typeface="Arial"/>
                <a:sym typeface="Arial"/>
              </a:rPr>
              <a:t>Because</a:t>
            </a:r>
            <a:r>
              <a:rPr lang="en-US" sz="3000">
                <a:latin typeface="Arial"/>
                <a:ea typeface="Arial"/>
                <a:cs typeface="Arial"/>
                <a:sym typeface="Arial"/>
              </a:rPr>
              <a:t> (porque)</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Although / Though</a:t>
            </a:r>
            <a:r>
              <a:rPr lang="en-US" sz="3000">
                <a:latin typeface="Arial"/>
                <a:ea typeface="Arial"/>
                <a:cs typeface="Arial"/>
                <a:sym typeface="Arial"/>
              </a:rPr>
              <a:t> (embora)</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If</a:t>
            </a:r>
            <a:r>
              <a:rPr lang="en-US" sz="3000">
                <a:latin typeface="Arial"/>
                <a:ea typeface="Arial"/>
                <a:cs typeface="Arial"/>
                <a:sym typeface="Arial"/>
              </a:rPr>
              <a:t> (se)</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When</a:t>
            </a:r>
            <a:r>
              <a:rPr lang="en-US" sz="3000">
                <a:latin typeface="Arial"/>
                <a:ea typeface="Arial"/>
                <a:cs typeface="Arial"/>
                <a:sym typeface="Arial"/>
              </a:rPr>
              <a:t> (quando)</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While</a:t>
            </a:r>
            <a:r>
              <a:rPr lang="en-US" sz="3000">
                <a:latin typeface="Arial"/>
                <a:ea typeface="Arial"/>
                <a:cs typeface="Arial"/>
                <a:sym typeface="Arial"/>
              </a:rPr>
              <a:t> (enquanto)</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Unless</a:t>
            </a:r>
            <a:r>
              <a:rPr lang="en-US" sz="3000">
                <a:latin typeface="Arial"/>
                <a:ea typeface="Arial"/>
                <a:cs typeface="Arial"/>
                <a:sym typeface="Arial"/>
              </a:rPr>
              <a:t> (a menos que)</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Since</a:t>
            </a:r>
            <a:r>
              <a:rPr lang="en-US" sz="3000">
                <a:latin typeface="Arial"/>
                <a:ea typeface="Arial"/>
                <a:cs typeface="Arial"/>
                <a:sym typeface="Arial"/>
              </a:rPr>
              <a:t> (desde que / porque)</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As</a:t>
            </a:r>
            <a:r>
              <a:rPr lang="en-US" sz="3000">
                <a:latin typeface="Arial"/>
                <a:ea typeface="Arial"/>
                <a:cs typeface="Arial"/>
                <a:sym typeface="Arial"/>
              </a:rPr>
              <a:t> (como / enquanto / porque)</a:t>
            </a:r>
            <a:endParaRPr sz="3000">
              <a:latin typeface="Arial"/>
              <a:ea typeface="Arial"/>
              <a:cs typeface="Arial"/>
              <a:sym typeface="Arial"/>
            </a:endParaRPr>
          </a:p>
          <a:p>
            <a:pPr indent="-347662" lvl="0" marL="457200" rtl="0" algn="l">
              <a:lnSpc>
                <a:spcPct val="115000"/>
              </a:lnSpc>
              <a:spcBef>
                <a:spcPts val="0"/>
              </a:spcBef>
              <a:spcAft>
                <a:spcPts val="0"/>
              </a:spcAft>
              <a:buClr>
                <a:schemeClr val="dk1"/>
              </a:buClr>
              <a:buSzPct val="100000"/>
              <a:buChar char="●"/>
            </a:pPr>
            <a:r>
              <a:rPr b="1" lang="en-US" sz="3000">
                <a:latin typeface="Arial"/>
                <a:ea typeface="Arial"/>
                <a:cs typeface="Arial"/>
                <a:sym typeface="Arial"/>
              </a:rPr>
              <a:t>Before / After</a:t>
            </a:r>
            <a:r>
              <a:rPr lang="en-US" sz="3000">
                <a:latin typeface="Arial"/>
                <a:ea typeface="Arial"/>
                <a:cs typeface="Arial"/>
                <a:sym typeface="Arial"/>
              </a:rPr>
              <a:t> (antes / depois)</a:t>
            </a:r>
            <a:endParaRPr sz="30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1" name="Google Shape;131;p18"/>
          <p:cNvSpPr txBox="1"/>
          <p:nvPr>
            <p:ph idx="1" type="body"/>
          </p:nvPr>
        </p:nvSpPr>
        <p:spPr>
          <a:xfrm>
            <a:off x="1451579" y="2015732"/>
            <a:ext cx="9603300" cy="345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800">
                <a:latin typeface="Arial"/>
                <a:ea typeface="Arial"/>
                <a:cs typeface="Arial"/>
                <a:sym typeface="Arial"/>
              </a:rPr>
              <a:t>Exemplos:</a:t>
            </a:r>
            <a:endParaRPr b="1" sz="2800">
              <a:latin typeface="Arial"/>
              <a:ea typeface="Arial"/>
              <a:cs typeface="Arial"/>
              <a:sym typeface="Arial"/>
            </a:endParaRPr>
          </a:p>
          <a:p>
            <a:pPr indent="-406400" lvl="0" marL="457200" rtl="0" algn="l">
              <a:lnSpc>
                <a:spcPct val="115000"/>
              </a:lnSpc>
              <a:spcBef>
                <a:spcPts val="1200"/>
              </a:spcBef>
              <a:spcAft>
                <a:spcPts val="0"/>
              </a:spcAft>
              <a:buClr>
                <a:schemeClr val="dk1"/>
              </a:buClr>
              <a:buSzPts val="2800"/>
              <a:buChar char="●"/>
            </a:pPr>
            <a:r>
              <a:rPr lang="en-US" sz="2800">
                <a:latin typeface="Arial"/>
                <a:ea typeface="Arial"/>
                <a:cs typeface="Arial"/>
                <a:sym typeface="Arial"/>
              </a:rPr>
              <a:t>The server crashed </a:t>
            </a:r>
            <a:r>
              <a:rPr b="1" lang="en-US" sz="2800">
                <a:latin typeface="Arial"/>
                <a:ea typeface="Arial"/>
                <a:cs typeface="Arial"/>
                <a:sym typeface="Arial"/>
              </a:rPr>
              <a:t>because</a:t>
            </a:r>
            <a:r>
              <a:rPr lang="en-US" sz="2800">
                <a:latin typeface="Arial"/>
                <a:ea typeface="Arial"/>
                <a:cs typeface="Arial"/>
                <a:sym typeface="Arial"/>
              </a:rPr>
              <a:t> there was a memory leak.</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b="1" lang="en-US" sz="2800">
                <a:latin typeface="Arial"/>
                <a:ea typeface="Arial"/>
                <a:cs typeface="Arial"/>
                <a:sym typeface="Arial"/>
              </a:rPr>
              <a:t>Although</a:t>
            </a:r>
            <a:r>
              <a:rPr lang="en-US" sz="2800">
                <a:latin typeface="Arial"/>
                <a:ea typeface="Arial"/>
                <a:cs typeface="Arial"/>
                <a:sym typeface="Arial"/>
              </a:rPr>
              <a:t> the algorithm is efficient, it uses too much memory.</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You won’t succeed </a:t>
            </a:r>
            <a:r>
              <a:rPr b="1" lang="en-US" sz="2800">
                <a:latin typeface="Arial"/>
                <a:ea typeface="Arial"/>
                <a:cs typeface="Arial"/>
                <a:sym typeface="Arial"/>
              </a:rPr>
              <a:t>unless</a:t>
            </a:r>
            <a:r>
              <a:rPr lang="en-US" sz="2800">
                <a:latin typeface="Arial"/>
                <a:ea typeface="Arial"/>
                <a:cs typeface="Arial"/>
                <a:sym typeface="Arial"/>
              </a:rPr>
              <a:t> you practice regularly.</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b="1" lang="en-US" sz="2800">
                <a:latin typeface="Arial"/>
                <a:ea typeface="Arial"/>
                <a:cs typeface="Arial"/>
                <a:sym typeface="Arial"/>
              </a:rPr>
              <a:t>If</a:t>
            </a:r>
            <a:r>
              <a:rPr lang="en-US" sz="2800">
                <a:latin typeface="Arial"/>
                <a:ea typeface="Arial"/>
                <a:cs typeface="Arial"/>
                <a:sym typeface="Arial"/>
              </a:rPr>
              <a:t> you don’t close the connection, the system may crash.</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Char char="●"/>
            </a:pPr>
            <a:r>
              <a:rPr lang="en-US" sz="2800">
                <a:latin typeface="Arial"/>
                <a:ea typeface="Arial"/>
                <a:cs typeface="Arial"/>
                <a:sym typeface="Arial"/>
              </a:rPr>
              <a:t>We tested the software </a:t>
            </a:r>
            <a:r>
              <a:rPr b="1" lang="en-US" sz="2800">
                <a:latin typeface="Arial"/>
                <a:ea typeface="Arial"/>
                <a:cs typeface="Arial"/>
                <a:sym typeface="Arial"/>
              </a:rPr>
              <a:t>after</a:t>
            </a:r>
            <a:r>
              <a:rPr lang="en-US" sz="2800">
                <a:latin typeface="Arial"/>
                <a:ea typeface="Arial"/>
                <a:cs typeface="Arial"/>
                <a:sym typeface="Arial"/>
              </a:rPr>
              <a:t> updating the drivers.</a:t>
            </a:r>
            <a:endParaRPr sz="28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137" name="Google Shape;137;p1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id="138" name="Google Shape;138;p19"/>
          <p:cNvPicPr preferRelativeResize="0"/>
          <p:nvPr/>
        </p:nvPicPr>
        <p:blipFill rotWithShape="1">
          <a:blip r:embed="rId3">
            <a:alphaModFix/>
          </a:blip>
          <a:srcRect b="15556" l="26457" r="28021" t="11852"/>
          <a:stretch/>
        </p:blipFill>
        <p:spPr>
          <a:xfrm>
            <a:off x="2298700" y="-1"/>
            <a:ext cx="7670800" cy="6880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144" name="Google Shape;144;p2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id="145" name="Google Shape;145;p20"/>
          <p:cNvPicPr preferRelativeResize="0"/>
          <p:nvPr/>
        </p:nvPicPr>
        <p:blipFill rotWithShape="1">
          <a:blip r:embed="rId3">
            <a:alphaModFix/>
          </a:blip>
          <a:srcRect b="58330" l="26459" r="27811" t="16852"/>
          <a:stretch/>
        </p:blipFill>
        <p:spPr>
          <a:xfrm>
            <a:off x="2227652" y="1258647"/>
            <a:ext cx="8921948" cy="2723328"/>
          </a:xfrm>
          <a:prstGeom prst="rect">
            <a:avLst/>
          </a:prstGeom>
          <a:noFill/>
          <a:ln>
            <a:noFill/>
          </a:ln>
        </p:spPr>
      </p:pic>
      <p:pic>
        <p:nvPicPr>
          <p:cNvPr id="146" name="Google Shape;146;p20"/>
          <p:cNvPicPr preferRelativeResize="0"/>
          <p:nvPr/>
        </p:nvPicPr>
        <p:blipFill rotWithShape="1">
          <a:blip r:embed="rId3">
            <a:alphaModFix/>
          </a:blip>
          <a:srcRect b="15371" l="26459" r="27811" t="65926"/>
          <a:stretch/>
        </p:blipFill>
        <p:spPr>
          <a:xfrm>
            <a:off x="2211026" y="3912394"/>
            <a:ext cx="8992364" cy="20688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DETALHES E CASOS ESPECIAIS</a:t>
            </a:r>
            <a:endParaRPr/>
          </a:p>
        </p:txBody>
      </p:sp>
      <p:sp>
        <p:nvSpPr>
          <p:cNvPr id="152" name="Google Shape;152;p21"/>
          <p:cNvSpPr txBox="1"/>
          <p:nvPr>
            <p:ph idx="1" type="body"/>
          </p:nvPr>
        </p:nvSpPr>
        <p:spPr>
          <a:xfrm>
            <a:off x="705970" y="1329136"/>
            <a:ext cx="10780059" cy="4854874"/>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SzPts val="3200"/>
              <a:buChar char="•"/>
            </a:pPr>
            <a:r>
              <a:rPr lang="en-US" sz="3200"/>
              <a:t>1. Like e as têm a mesma tradução (como), mas podem transmitir idéias diferentes. </a:t>
            </a:r>
            <a:endParaRPr/>
          </a:p>
          <a:p>
            <a:pPr indent="-228600" lvl="1" marL="685800" rtl="0" algn="l">
              <a:lnSpc>
                <a:spcPct val="120000"/>
              </a:lnSpc>
              <a:spcBef>
                <a:spcPts val="500"/>
              </a:spcBef>
              <a:spcAft>
                <a:spcPts val="0"/>
              </a:spcAft>
              <a:buSzPts val="1800"/>
              <a:buChar char="•"/>
            </a:pPr>
            <a:r>
              <a:rPr lang="en-US"/>
              <a:t>She’s worked like a maid. (= ela trabalhou como se fosse uma empregada) </a:t>
            </a:r>
            <a:endParaRPr/>
          </a:p>
          <a:p>
            <a:pPr indent="-228600" lvl="1" marL="685800" rtl="0" algn="l">
              <a:lnSpc>
                <a:spcPct val="120000"/>
              </a:lnSpc>
              <a:spcBef>
                <a:spcPts val="500"/>
              </a:spcBef>
              <a:spcAft>
                <a:spcPts val="0"/>
              </a:spcAft>
              <a:buSzPts val="1800"/>
              <a:buChar char="•"/>
            </a:pPr>
            <a:r>
              <a:rPr lang="en-US"/>
              <a:t>She’s worked as a maid. (= ela trabalhou como empregada, ela era empregada) </a:t>
            </a:r>
            <a:endParaRPr/>
          </a:p>
          <a:p>
            <a:pPr indent="-228600" lvl="0" marL="228600" rtl="0" algn="l">
              <a:lnSpc>
                <a:spcPct val="120000"/>
              </a:lnSpc>
              <a:spcBef>
                <a:spcPts val="1000"/>
              </a:spcBef>
              <a:spcAft>
                <a:spcPts val="0"/>
              </a:spcAft>
              <a:buSzPts val="3200"/>
              <a:buChar char="•"/>
            </a:pPr>
            <a:r>
              <a:rPr lang="en-US" sz="3200"/>
              <a:t>2. For pode ser sinônimo de because, embora com algumas restrições (não pode ser precedido de not, de but ou qualquer outra conjunção e não pode ser usado para responder uma pergunta). </a:t>
            </a:r>
            <a:endParaRPr/>
          </a:p>
          <a:p>
            <a:pPr indent="-228600" lvl="1" marL="685800" rtl="0" algn="l">
              <a:lnSpc>
                <a:spcPct val="120000"/>
              </a:lnSpc>
              <a:spcBef>
                <a:spcPts val="500"/>
              </a:spcBef>
              <a:spcAft>
                <a:spcPts val="0"/>
              </a:spcAft>
              <a:buSzPts val="1800"/>
              <a:buChar char="•"/>
            </a:pPr>
            <a:r>
              <a:rPr lang="en-US"/>
              <a:t>The boys will return soon, for they must be hungry by now.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158" name="Google Shape;158;p22"/>
          <p:cNvSpPr txBox="1"/>
          <p:nvPr>
            <p:ph idx="1" type="body"/>
          </p:nvPr>
        </p:nvSpPr>
        <p:spPr>
          <a:xfrm>
            <a:off x="1451575" y="2015725"/>
            <a:ext cx="9853500" cy="3663600"/>
          </a:xfrm>
          <a:prstGeom prst="rect">
            <a:avLst/>
          </a:prstGeom>
          <a:noFill/>
          <a:ln>
            <a:noFill/>
          </a:ln>
        </p:spPr>
        <p:txBody>
          <a:bodyPr anchorCtr="0" anchor="t" bIns="45700" lIns="91425" spcFirstLastPara="1" rIns="91425" wrap="square" tIns="45700">
            <a:normAutofit lnSpcReduction="20000"/>
          </a:bodyPr>
          <a:lstStyle/>
          <a:p>
            <a:pPr indent="-243840" lvl="0" marL="228600" rtl="0" algn="l">
              <a:lnSpc>
                <a:spcPct val="120000"/>
              </a:lnSpc>
              <a:spcBef>
                <a:spcPts val="0"/>
              </a:spcBef>
              <a:spcAft>
                <a:spcPts val="0"/>
              </a:spcAft>
              <a:buSzPts val="3200"/>
              <a:buChar char="•"/>
            </a:pPr>
            <a:r>
              <a:rPr lang="en-US" sz="3200"/>
              <a:t>3. As conjunções when, by the time (quando), till, until (até), after (após, depois), before (antes), as soon as (logo que, assim que) e as long as (enquanto, contanto que) são utilizadas principalmente para relacionar Tenses, os tempos verbais em inglês. </a:t>
            </a:r>
            <a:endParaRPr/>
          </a:p>
          <a:p>
            <a:pPr indent="-243522" lvl="1" marL="685800" rtl="0" algn="l">
              <a:lnSpc>
                <a:spcPct val="120000"/>
              </a:lnSpc>
              <a:spcBef>
                <a:spcPts val="500"/>
              </a:spcBef>
              <a:spcAft>
                <a:spcPts val="0"/>
              </a:spcAft>
              <a:buSzPts val="1900"/>
              <a:buChar char="•"/>
            </a:pPr>
            <a:r>
              <a:rPr lang="en-US" sz="1900"/>
              <a:t>When/By the time we finished our work all the other students had left. </a:t>
            </a:r>
            <a:endParaRPr sz="1900"/>
          </a:p>
          <a:p>
            <a:pPr indent="-243522" lvl="1" marL="685800" rtl="0" algn="l">
              <a:lnSpc>
                <a:spcPct val="120000"/>
              </a:lnSpc>
              <a:spcBef>
                <a:spcPts val="500"/>
              </a:spcBef>
              <a:spcAft>
                <a:spcPts val="0"/>
              </a:spcAft>
              <a:buSzPts val="1900"/>
              <a:buChar char="•"/>
            </a:pPr>
            <a:r>
              <a:rPr lang="en-US" sz="1900"/>
              <a:t>Send me a postcard from Germany as soon as you can, will you? </a:t>
            </a:r>
            <a:endParaRPr sz="1900"/>
          </a:p>
          <a:p>
            <a:pPr indent="-243522" lvl="1" marL="685800" rtl="0" algn="l">
              <a:lnSpc>
                <a:spcPct val="120000"/>
              </a:lnSpc>
              <a:spcBef>
                <a:spcPts val="500"/>
              </a:spcBef>
              <a:spcAft>
                <a:spcPts val="0"/>
              </a:spcAft>
              <a:buSzPts val="1900"/>
              <a:buChar char="•"/>
            </a:pPr>
            <a:r>
              <a:rPr lang="en-US" sz="1900"/>
              <a:t>I don’t mind your getting late, as long as it doesn’t interfere with our deadlines.</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1454239" y="1756130"/>
            <a:ext cx="8643300" cy="1887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Gill Sans"/>
              <a:buNone/>
            </a:pPr>
            <a:r>
              <a:rPr lang="en-US"/>
              <a:t>respondam os exercícios para praticar</a:t>
            </a:r>
            <a:endParaRPr/>
          </a:p>
        </p:txBody>
      </p:sp>
      <p:sp>
        <p:nvSpPr>
          <p:cNvPr id="164" name="Google Shape;164;p23"/>
          <p:cNvSpPr txBox="1"/>
          <p:nvPr>
            <p:ph idx="1" type="body"/>
          </p:nvPr>
        </p:nvSpPr>
        <p:spPr>
          <a:xfrm>
            <a:off x="1454239" y="3806195"/>
            <a:ext cx="8630400" cy="1012800"/>
          </a:xfrm>
          <a:prstGeom prst="rect">
            <a:avLst/>
          </a:prstGeom>
          <a:noFill/>
          <a:ln>
            <a:noFill/>
          </a:ln>
        </p:spPr>
        <p:txBody>
          <a:bodyPr anchorCtr="0" anchor="t" bIns="45700" lIns="91425" spcFirstLastPara="1" rIns="91425" wrap="square" tIns="91425">
            <a:normAutofit/>
          </a:bodyPr>
          <a:lstStyle/>
          <a:p>
            <a:pPr indent="0" lvl="0" marL="0" rtl="0" algn="l">
              <a:lnSpc>
                <a:spcPct val="120000"/>
              </a:lnSpc>
              <a:spcBef>
                <a:spcPts val="0"/>
              </a:spcBef>
              <a:spcAft>
                <a:spcPts val="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a:t>
            </a:r>
            <a:endParaRPr/>
          </a:p>
        </p:txBody>
      </p:sp>
      <p:sp>
        <p:nvSpPr>
          <p:cNvPr id="170" name="Google Shape;170;p24"/>
          <p:cNvSpPr txBox="1"/>
          <p:nvPr>
            <p:ph idx="1" type="body"/>
          </p:nvPr>
        </p:nvSpPr>
        <p:spPr>
          <a:xfrm>
            <a:off x="250025" y="2089550"/>
            <a:ext cx="11555100" cy="4000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200">
                <a:latin typeface="Arial"/>
                <a:ea typeface="Arial"/>
                <a:cs typeface="Arial"/>
                <a:sym typeface="Arial"/>
              </a:rPr>
              <a:t>Escolha a conjunção correta (and, but, or, so) para completar as frases abaixo:</a:t>
            </a:r>
            <a:endParaRPr b="1" sz="2200">
              <a:latin typeface="Arial"/>
              <a:ea typeface="Arial"/>
              <a:cs typeface="Arial"/>
              <a:sym typeface="Arial"/>
            </a:endParaRPr>
          </a:p>
          <a:p>
            <a:pPr indent="-368300" lvl="0" marL="457200" rtl="0" algn="l">
              <a:lnSpc>
                <a:spcPct val="115000"/>
              </a:lnSpc>
              <a:spcBef>
                <a:spcPts val="1200"/>
              </a:spcBef>
              <a:spcAft>
                <a:spcPts val="0"/>
              </a:spcAft>
              <a:buClr>
                <a:schemeClr val="dk1"/>
              </a:buClr>
              <a:buSzPts val="2200"/>
              <a:buAutoNum type="arabicPeriod"/>
            </a:pPr>
            <a:r>
              <a:rPr lang="en-US" sz="2200">
                <a:latin typeface="Arial"/>
                <a:ea typeface="Arial"/>
                <a:cs typeface="Arial"/>
                <a:sym typeface="Arial"/>
              </a:rPr>
              <a:t>Programming languages like Python are easy to learn, ___ they are very powerful for complex tasks.</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You can use JavaScript for front-end development, ___ you can choose Python for back-end development.</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The system is running efficiently, ___ we still need to test for bugs.</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You should study algorithms, ___ you might struggle with complex problem-solving.</a:t>
            </a:r>
            <a:endParaRPr sz="2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1 - resolvido</a:t>
            </a:r>
            <a:endParaRPr/>
          </a:p>
        </p:txBody>
      </p:sp>
      <p:sp>
        <p:nvSpPr>
          <p:cNvPr id="176" name="Google Shape;176;p25"/>
          <p:cNvSpPr txBox="1"/>
          <p:nvPr>
            <p:ph idx="1" type="body"/>
          </p:nvPr>
        </p:nvSpPr>
        <p:spPr>
          <a:xfrm>
            <a:off x="250025" y="2089550"/>
            <a:ext cx="11555100" cy="4000500"/>
          </a:xfrm>
          <a:prstGeom prst="rect">
            <a:avLst/>
          </a:prstGeom>
          <a:noFill/>
          <a:ln>
            <a:noFill/>
          </a:ln>
        </p:spPr>
        <p:txBody>
          <a:bodyPr anchorCtr="0" anchor="t" bIns="45700" lIns="91425" spcFirstLastPara="1" rIns="91425" wrap="square" tIns="45700">
            <a:normAutofit/>
          </a:bodyPr>
          <a:lstStyle/>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Programming languages like Python are easy to learn, </a:t>
            </a:r>
            <a:r>
              <a:rPr b="1" lang="en-US" sz="2800">
                <a:latin typeface="Arial"/>
                <a:ea typeface="Arial"/>
                <a:cs typeface="Arial"/>
                <a:sym typeface="Arial"/>
              </a:rPr>
              <a:t>and</a:t>
            </a:r>
            <a:r>
              <a:rPr lang="en-US" sz="2800">
                <a:latin typeface="Arial"/>
                <a:ea typeface="Arial"/>
                <a:cs typeface="Arial"/>
                <a:sym typeface="Arial"/>
              </a:rPr>
              <a:t> they are very powerful for complex tasks.</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You can use JavaScript for front-end development, </a:t>
            </a:r>
            <a:r>
              <a:rPr b="1" lang="en-US" sz="2800">
                <a:latin typeface="Arial"/>
                <a:ea typeface="Arial"/>
                <a:cs typeface="Arial"/>
                <a:sym typeface="Arial"/>
              </a:rPr>
              <a:t>or</a:t>
            </a:r>
            <a:r>
              <a:rPr lang="en-US" sz="2800">
                <a:latin typeface="Arial"/>
                <a:ea typeface="Arial"/>
                <a:cs typeface="Arial"/>
                <a:sym typeface="Arial"/>
              </a:rPr>
              <a:t> you can choose Python for back-end development.</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The system is running efficiently, </a:t>
            </a:r>
            <a:r>
              <a:rPr b="1" lang="en-US" sz="2800">
                <a:latin typeface="Arial"/>
                <a:ea typeface="Arial"/>
                <a:cs typeface="Arial"/>
                <a:sym typeface="Arial"/>
              </a:rPr>
              <a:t>but</a:t>
            </a:r>
            <a:r>
              <a:rPr lang="en-US" sz="2800">
                <a:latin typeface="Arial"/>
                <a:ea typeface="Arial"/>
                <a:cs typeface="Arial"/>
                <a:sym typeface="Arial"/>
              </a:rPr>
              <a:t> we still need to test for bugs.</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You should study algorithms, </a:t>
            </a:r>
            <a:r>
              <a:rPr b="1" lang="en-US" sz="2800">
                <a:latin typeface="Arial"/>
                <a:ea typeface="Arial"/>
                <a:cs typeface="Arial"/>
                <a:sym typeface="Arial"/>
              </a:rPr>
              <a:t>or</a:t>
            </a:r>
            <a:r>
              <a:rPr lang="en-US" sz="2800">
                <a:latin typeface="Arial"/>
                <a:ea typeface="Arial"/>
                <a:cs typeface="Arial"/>
                <a:sym typeface="Arial"/>
              </a:rPr>
              <a:t> you might struggle with complex problem-solving.</a:t>
            </a:r>
            <a:endParaRPr sz="2800">
              <a:latin typeface="Arial"/>
              <a:ea typeface="Arial"/>
              <a:cs typeface="Arial"/>
              <a:sym typeface="Arial"/>
            </a:endParaRPr>
          </a:p>
          <a:p>
            <a:pPr indent="0" lvl="0" marL="0" rtl="0" algn="l">
              <a:lnSpc>
                <a:spcPct val="115000"/>
              </a:lnSpc>
              <a:spcBef>
                <a:spcPts val="0"/>
              </a:spcBef>
              <a:spcAft>
                <a:spcPts val="0"/>
              </a:spcAft>
              <a:buNone/>
            </a:pPr>
            <a:r>
              <a:t/>
            </a:r>
            <a:endParaRPr b="1" sz="22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1I</a:t>
            </a:r>
            <a:endParaRPr/>
          </a:p>
        </p:txBody>
      </p:sp>
      <p:sp>
        <p:nvSpPr>
          <p:cNvPr id="182" name="Google Shape;182;p26"/>
          <p:cNvSpPr txBox="1"/>
          <p:nvPr>
            <p:ph idx="1" type="body"/>
          </p:nvPr>
        </p:nvSpPr>
        <p:spPr>
          <a:xfrm>
            <a:off x="250025" y="2089550"/>
            <a:ext cx="11555100" cy="4000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200">
                <a:latin typeface="Arial"/>
                <a:ea typeface="Arial"/>
                <a:cs typeface="Arial"/>
                <a:sym typeface="Arial"/>
              </a:rPr>
              <a:t>Complete as frases usando "because" ou "so":</a:t>
            </a:r>
            <a:endParaRPr b="1" sz="2200">
              <a:latin typeface="Arial"/>
              <a:ea typeface="Arial"/>
              <a:cs typeface="Arial"/>
              <a:sym typeface="Arial"/>
            </a:endParaRPr>
          </a:p>
          <a:p>
            <a:pPr indent="-368300" lvl="0" marL="457200" rtl="0" algn="l">
              <a:lnSpc>
                <a:spcPct val="115000"/>
              </a:lnSpc>
              <a:spcBef>
                <a:spcPts val="1200"/>
              </a:spcBef>
              <a:spcAft>
                <a:spcPts val="0"/>
              </a:spcAft>
              <a:buClr>
                <a:schemeClr val="dk1"/>
              </a:buClr>
              <a:buSzPts val="2200"/>
              <a:buAutoNum type="arabicPeriod"/>
            </a:pPr>
            <a:r>
              <a:rPr lang="en-US" sz="2200">
                <a:latin typeface="Arial"/>
                <a:ea typeface="Arial"/>
                <a:cs typeface="Arial"/>
                <a:sym typeface="Arial"/>
              </a:rPr>
              <a:t>The server crashed ___ there was a memory overflow.</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We upgraded the system ___ it could handle more simultaneous users.</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The program didn’t work ___ there was a syntax error.</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You should comment your code ___ other developers can understand it better.</a:t>
            </a:r>
            <a:endParaRPr b="1" sz="22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1I - Resolvido</a:t>
            </a:r>
            <a:endParaRPr/>
          </a:p>
        </p:txBody>
      </p:sp>
      <p:sp>
        <p:nvSpPr>
          <p:cNvPr id="188" name="Google Shape;188;p27"/>
          <p:cNvSpPr txBox="1"/>
          <p:nvPr>
            <p:ph idx="1" type="body"/>
          </p:nvPr>
        </p:nvSpPr>
        <p:spPr>
          <a:xfrm>
            <a:off x="318450" y="1946675"/>
            <a:ext cx="11555100" cy="4000500"/>
          </a:xfrm>
          <a:prstGeom prst="rect">
            <a:avLst/>
          </a:prstGeom>
          <a:noFill/>
          <a:ln>
            <a:noFill/>
          </a:ln>
        </p:spPr>
        <p:txBody>
          <a:bodyPr anchorCtr="0" anchor="t" bIns="45700" lIns="91425" spcFirstLastPara="1" rIns="91425" wrap="square" tIns="45700">
            <a:normAutofit/>
          </a:bodyPr>
          <a:lstStyle/>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The server crashed </a:t>
            </a:r>
            <a:r>
              <a:rPr b="1" lang="en-US" sz="2800">
                <a:latin typeface="Arial"/>
                <a:ea typeface="Arial"/>
                <a:cs typeface="Arial"/>
                <a:sym typeface="Arial"/>
              </a:rPr>
              <a:t>because</a:t>
            </a:r>
            <a:r>
              <a:rPr lang="en-US" sz="2800">
                <a:latin typeface="Arial"/>
                <a:ea typeface="Arial"/>
                <a:cs typeface="Arial"/>
                <a:sym typeface="Arial"/>
              </a:rPr>
              <a:t> there was a memory overflow.</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We upgraded the system </a:t>
            </a:r>
            <a:r>
              <a:rPr b="1" lang="en-US" sz="2800">
                <a:latin typeface="Arial"/>
                <a:ea typeface="Arial"/>
                <a:cs typeface="Arial"/>
                <a:sym typeface="Arial"/>
              </a:rPr>
              <a:t>so</a:t>
            </a:r>
            <a:r>
              <a:rPr lang="en-US" sz="2800">
                <a:latin typeface="Arial"/>
                <a:ea typeface="Arial"/>
                <a:cs typeface="Arial"/>
                <a:sym typeface="Arial"/>
              </a:rPr>
              <a:t> it could handle more simultaneous users.</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The program didn’t work </a:t>
            </a:r>
            <a:r>
              <a:rPr b="1" lang="en-US" sz="2800">
                <a:latin typeface="Arial"/>
                <a:ea typeface="Arial"/>
                <a:cs typeface="Arial"/>
                <a:sym typeface="Arial"/>
              </a:rPr>
              <a:t>because</a:t>
            </a:r>
            <a:r>
              <a:rPr lang="en-US" sz="2800">
                <a:latin typeface="Arial"/>
                <a:ea typeface="Arial"/>
                <a:cs typeface="Arial"/>
                <a:sym typeface="Arial"/>
              </a:rPr>
              <a:t> there was a syntax error.</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lang="en-US" sz="2800">
                <a:latin typeface="Arial"/>
                <a:ea typeface="Arial"/>
                <a:cs typeface="Arial"/>
                <a:sym typeface="Arial"/>
              </a:rPr>
              <a:t>You should comment your code </a:t>
            </a:r>
            <a:r>
              <a:rPr b="1" lang="en-US" sz="2800">
                <a:latin typeface="Arial"/>
                <a:ea typeface="Arial"/>
                <a:cs typeface="Arial"/>
                <a:sym typeface="Arial"/>
              </a:rPr>
              <a:t>so</a:t>
            </a:r>
            <a:r>
              <a:rPr lang="en-US" sz="2800">
                <a:latin typeface="Arial"/>
                <a:ea typeface="Arial"/>
                <a:cs typeface="Arial"/>
                <a:sym typeface="Arial"/>
              </a:rPr>
              <a:t> other developers can understand it better</a:t>
            </a:r>
            <a:endParaRPr b="1" sz="28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1II</a:t>
            </a:r>
            <a:endParaRPr/>
          </a:p>
        </p:txBody>
      </p:sp>
      <p:sp>
        <p:nvSpPr>
          <p:cNvPr id="194" name="Google Shape;194;p28"/>
          <p:cNvSpPr txBox="1"/>
          <p:nvPr>
            <p:ph idx="1" type="body"/>
          </p:nvPr>
        </p:nvSpPr>
        <p:spPr>
          <a:xfrm>
            <a:off x="250025" y="2089550"/>
            <a:ext cx="11555100" cy="40005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200">
                <a:latin typeface="Arial"/>
                <a:ea typeface="Arial"/>
                <a:cs typeface="Arial"/>
                <a:sym typeface="Arial"/>
              </a:rPr>
              <a:t>Escolha entre "although", "while", "since", "if" ou "unless" para completar as frases:</a:t>
            </a:r>
            <a:endParaRPr b="1" sz="2200">
              <a:latin typeface="Arial"/>
              <a:ea typeface="Arial"/>
              <a:cs typeface="Arial"/>
              <a:sym typeface="Arial"/>
            </a:endParaRPr>
          </a:p>
          <a:p>
            <a:pPr indent="-368300" lvl="0" marL="457200" rtl="0" algn="l">
              <a:lnSpc>
                <a:spcPct val="115000"/>
              </a:lnSpc>
              <a:spcBef>
                <a:spcPts val="1200"/>
              </a:spcBef>
              <a:spcAft>
                <a:spcPts val="0"/>
              </a:spcAft>
              <a:buClr>
                <a:schemeClr val="dk1"/>
              </a:buClr>
              <a:buSzPts val="2200"/>
              <a:buAutoNum type="arabicPeriod"/>
            </a:pPr>
            <a:r>
              <a:rPr lang="en-US" sz="2200">
                <a:latin typeface="Arial"/>
                <a:ea typeface="Arial"/>
                <a:cs typeface="Arial"/>
                <a:sym typeface="Arial"/>
              </a:rPr>
              <a:t>___ Python is slower than C++, it is easier to write and debug.</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___ you have the necessary permissions, you can access the admin panel.</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___ learning to code can be challenging, it becomes easier with practice.</a:t>
            </a:r>
            <a:endParaRPr sz="2200">
              <a:latin typeface="Arial"/>
              <a:ea typeface="Arial"/>
              <a:cs typeface="Arial"/>
              <a:sym typeface="Arial"/>
            </a:endParaRPr>
          </a:p>
          <a:p>
            <a:pPr indent="-368300" lvl="0" marL="457200" rtl="0" algn="l">
              <a:lnSpc>
                <a:spcPct val="115000"/>
              </a:lnSpc>
              <a:spcBef>
                <a:spcPts val="0"/>
              </a:spcBef>
              <a:spcAft>
                <a:spcPts val="0"/>
              </a:spcAft>
              <a:buClr>
                <a:schemeClr val="dk1"/>
              </a:buClr>
              <a:buSzPts val="2200"/>
              <a:buAutoNum type="arabicPeriod"/>
            </a:pPr>
            <a:r>
              <a:rPr lang="en-US" sz="2200">
                <a:latin typeface="Arial"/>
                <a:ea typeface="Arial"/>
                <a:cs typeface="Arial"/>
                <a:sym typeface="Arial"/>
              </a:rPr>
              <a:t>___ you optimize your code, the program will run slowly</a:t>
            </a:r>
            <a:endParaRPr b="1" sz="22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Exercício 1II - Resolvido</a:t>
            </a:r>
            <a:endParaRPr/>
          </a:p>
        </p:txBody>
      </p:sp>
      <p:sp>
        <p:nvSpPr>
          <p:cNvPr id="200" name="Google Shape;200;p29"/>
          <p:cNvSpPr txBox="1"/>
          <p:nvPr>
            <p:ph idx="1" type="body"/>
          </p:nvPr>
        </p:nvSpPr>
        <p:spPr>
          <a:xfrm>
            <a:off x="250025" y="2089550"/>
            <a:ext cx="11555100" cy="4000500"/>
          </a:xfrm>
          <a:prstGeom prst="rect">
            <a:avLst/>
          </a:prstGeom>
          <a:noFill/>
          <a:ln>
            <a:noFill/>
          </a:ln>
        </p:spPr>
        <p:txBody>
          <a:bodyPr anchorCtr="0" anchor="t" bIns="45700" lIns="91425" spcFirstLastPara="1" rIns="91425" wrap="square" tIns="45700">
            <a:normAutofit/>
          </a:bodyPr>
          <a:lstStyle/>
          <a:p>
            <a:pPr indent="-406400" lvl="0" marL="457200" rtl="0" algn="l">
              <a:lnSpc>
                <a:spcPct val="115000"/>
              </a:lnSpc>
              <a:spcBef>
                <a:spcPts val="0"/>
              </a:spcBef>
              <a:spcAft>
                <a:spcPts val="0"/>
              </a:spcAft>
              <a:buClr>
                <a:schemeClr val="dk1"/>
              </a:buClr>
              <a:buSzPts val="2800"/>
              <a:buAutoNum type="arabicPeriod"/>
            </a:pPr>
            <a:r>
              <a:rPr b="1" lang="en-US" sz="2800">
                <a:latin typeface="Arial"/>
                <a:ea typeface="Arial"/>
                <a:cs typeface="Arial"/>
                <a:sym typeface="Arial"/>
              </a:rPr>
              <a:t>Although</a:t>
            </a:r>
            <a:r>
              <a:rPr lang="en-US" sz="2800">
                <a:latin typeface="Arial"/>
                <a:ea typeface="Arial"/>
                <a:cs typeface="Arial"/>
                <a:sym typeface="Arial"/>
              </a:rPr>
              <a:t> Python is slower than C++, it is easier to write and debug.</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b="1" lang="en-US" sz="2800">
                <a:latin typeface="Arial"/>
                <a:ea typeface="Arial"/>
                <a:cs typeface="Arial"/>
                <a:sym typeface="Arial"/>
              </a:rPr>
              <a:t>If</a:t>
            </a:r>
            <a:r>
              <a:rPr lang="en-US" sz="2800">
                <a:latin typeface="Arial"/>
                <a:ea typeface="Arial"/>
                <a:cs typeface="Arial"/>
                <a:sym typeface="Arial"/>
              </a:rPr>
              <a:t> you have the necessary permissions, you can access the admin panel.</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b="1" lang="en-US" sz="2800">
                <a:latin typeface="Arial"/>
                <a:ea typeface="Arial"/>
                <a:cs typeface="Arial"/>
                <a:sym typeface="Arial"/>
              </a:rPr>
              <a:t>While</a:t>
            </a:r>
            <a:r>
              <a:rPr lang="en-US" sz="2800">
                <a:latin typeface="Arial"/>
                <a:ea typeface="Arial"/>
                <a:cs typeface="Arial"/>
                <a:sym typeface="Arial"/>
              </a:rPr>
              <a:t> learning to code can be challenging, it becomes easier with practice.</a:t>
            </a:r>
            <a:endParaRPr sz="2800">
              <a:latin typeface="Arial"/>
              <a:ea typeface="Arial"/>
              <a:cs typeface="Arial"/>
              <a:sym typeface="Arial"/>
            </a:endParaRPr>
          </a:p>
          <a:p>
            <a:pPr indent="-406400" lvl="0" marL="457200" rtl="0" algn="l">
              <a:lnSpc>
                <a:spcPct val="115000"/>
              </a:lnSpc>
              <a:spcBef>
                <a:spcPts val="0"/>
              </a:spcBef>
              <a:spcAft>
                <a:spcPts val="0"/>
              </a:spcAft>
              <a:buClr>
                <a:schemeClr val="dk1"/>
              </a:buClr>
              <a:buSzPts val="2800"/>
              <a:buAutoNum type="arabicPeriod"/>
            </a:pPr>
            <a:r>
              <a:rPr b="1" lang="en-US" sz="2800">
                <a:latin typeface="Arial"/>
                <a:ea typeface="Arial"/>
                <a:cs typeface="Arial"/>
                <a:sym typeface="Arial"/>
              </a:rPr>
              <a:t>Unless</a:t>
            </a:r>
            <a:r>
              <a:rPr lang="en-US" sz="2800">
                <a:latin typeface="Arial"/>
                <a:ea typeface="Arial"/>
                <a:cs typeface="Arial"/>
                <a:sym typeface="Arial"/>
              </a:rPr>
              <a:t> you optimize your code, the program will run slowly.</a:t>
            </a:r>
            <a:endParaRPr b="1" sz="28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507689" y="684555"/>
            <a:ext cx="8643300" cy="1887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Gill Sans"/>
              <a:buNone/>
            </a:pPr>
            <a:r>
              <a:rPr lang="en-US"/>
              <a:t> </a:t>
            </a:r>
            <a:endParaRPr/>
          </a:p>
        </p:txBody>
      </p:sp>
      <p:sp>
        <p:nvSpPr>
          <p:cNvPr id="206" name="Google Shape;206;p30"/>
          <p:cNvSpPr txBox="1"/>
          <p:nvPr>
            <p:ph idx="1" type="body"/>
          </p:nvPr>
        </p:nvSpPr>
        <p:spPr>
          <a:xfrm>
            <a:off x="696550" y="428651"/>
            <a:ext cx="11019300" cy="4750500"/>
          </a:xfrm>
          <a:prstGeom prst="rect">
            <a:avLst/>
          </a:prstGeom>
          <a:noFill/>
          <a:ln>
            <a:noFill/>
          </a:ln>
        </p:spPr>
        <p:txBody>
          <a:bodyPr anchorCtr="0" anchor="t" bIns="45700" lIns="91425" spcFirstLastPara="1" rIns="91425" wrap="square" tIns="91425">
            <a:noAutofit/>
          </a:bodyPr>
          <a:lstStyle/>
          <a:p>
            <a:pPr indent="0" lvl="0" marL="0" rtl="0" algn="l">
              <a:lnSpc>
                <a:spcPct val="120000"/>
              </a:lnSpc>
              <a:spcBef>
                <a:spcPts val="0"/>
              </a:spcBef>
              <a:spcAft>
                <a:spcPts val="0"/>
              </a:spcAft>
              <a:buSzPts val="1800"/>
              <a:buNone/>
            </a:pPr>
            <a:r>
              <a:rPr lang="en-US" sz="3000">
                <a:latin typeface="Arial"/>
                <a:ea typeface="Arial"/>
                <a:cs typeface="Arial"/>
                <a:sym typeface="Arial"/>
              </a:rPr>
              <a:t>The computing job market is rapidly expanding, and it offers many opportunities for professionals in various fields. Companies are looking for skilled workers who can develop software, manage databases, or maintain network systems. Because technology evolves quickly, staying updated is essential, so many professionals continue learning throughout their careers. Although competition can be strong, there is still a high demand for those with specialized knowledge. Therefore, students should focus on both technical skills and problem-solving abilities to succeed.</a:t>
            </a:r>
            <a:endParaRPr sz="3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507689" y="684555"/>
            <a:ext cx="8643300" cy="1887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Gill Sans"/>
              <a:buNone/>
            </a:pPr>
            <a:r>
              <a:rPr lang="en-US"/>
              <a:t> </a:t>
            </a:r>
            <a:endParaRPr/>
          </a:p>
        </p:txBody>
      </p:sp>
      <p:sp>
        <p:nvSpPr>
          <p:cNvPr id="212" name="Google Shape;212;p31"/>
          <p:cNvSpPr txBox="1"/>
          <p:nvPr>
            <p:ph idx="1" type="body"/>
          </p:nvPr>
        </p:nvSpPr>
        <p:spPr>
          <a:xfrm>
            <a:off x="696550" y="428651"/>
            <a:ext cx="11019300" cy="4750500"/>
          </a:xfrm>
          <a:prstGeom prst="rect">
            <a:avLst/>
          </a:prstGeom>
          <a:noFill/>
          <a:ln>
            <a:noFill/>
          </a:ln>
        </p:spPr>
        <p:txBody>
          <a:bodyPr anchorCtr="0" anchor="t" bIns="45700" lIns="91425" spcFirstLastPara="1" rIns="91425" wrap="square" tIns="91425">
            <a:noAutofit/>
          </a:bodyPr>
          <a:lstStyle/>
          <a:p>
            <a:pPr indent="0" lvl="0" marL="0" rtl="0" algn="l">
              <a:lnSpc>
                <a:spcPct val="120000"/>
              </a:lnSpc>
              <a:spcBef>
                <a:spcPts val="0"/>
              </a:spcBef>
              <a:spcAft>
                <a:spcPts val="0"/>
              </a:spcAft>
              <a:buSzPts val="1800"/>
              <a:buNone/>
            </a:pPr>
            <a:r>
              <a:rPr lang="en-US" sz="3000">
                <a:latin typeface="Arial"/>
                <a:ea typeface="Arial"/>
                <a:cs typeface="Arial"/>
                <a:sym typeface="Arial"/>
              </a:rPr>
              <a:t>The computing job market is rapidly expanding, </a:t>
            </a:r>
            <a:r>
              <a:rPr b="1" lang="en-US" sz="3000">
                <a:latin typeface="Arial"/>
                <a:ea typeface="Arial"/>
                <a:cs typeface="Arial"/>
                <a:sym typeface="Arial"/>
              </a:rPr>
              <a:t>and</a:t>
            </a:r>
            <a:r>
              <a:rPr lang="en-US" sz="3000">
                <a:latin typeface="Arial"/>
                <a:ea typeface="Arial"/>
                <a:cs typeface="Arial"/>
                <a:sym typeface="Arial"/>
              </a:rPr>
              <a:t> it offers many opportunities for professionals in various fields. Companies are looking for skilled workers who can develop software, manage databases, </a:t>
            </a:r>
            <a:r>
              <a:rPr b="1" lang="en-US" sz="3000">
                <a:latin typeface="Arial"/>
                <a:ea typeface="Arial"/>
                <a:cs typeface="Arial"/>
                <a:sym typeface="Arial"/>
              </a:rPr>
              <a:t>or</a:t>
            </a:r>
            <a:r>
              <a:rPr lang="en-US" sz="3000">
                <a:latin typeface="Arial"/>
                <a:ea typeface="Arial"/>
                <a:cs typeface="Arial"/>
                <a:sym typeface="Arial"/>
              </a:rPr>
              <a:t> maintain network systems. </a:t>
            </a:r>
            <a:r>
              <a:rPr b="1" lang="en-US" sz="3000">
                <a:latin typeface="Arial"/>
                <a:ea typeface="Arial"/>
                <a:cs typeface="Arial"/>
                <a:sym typeface="Arial"/>
              </a:rPr>
              <a:t>Because</a:t>
            </a:r>
            <a:r>
              <a:rPr lang="en-US" sz="3000">
                <a:latin typeface="Arial"/>
                <a:ea typeface="Arial"/>
                <a:cs typeface="Arial"/>
                <a:sym typeface="Arial"/>
              </a:rPr>
              <a:t> technology evolves quickly, staying updated is essential, </a:t>
            </a:r>
            <a:r>
              <a:rPr b="1" lang="en-US" sz="3000">
                <a:latin typeface="Arial"/>
                <a:ea typeface="Arial"/>
                <a:cs typeface="Arial"/>
                <a:sym typeface="Arial"/>
              </a:rPr>
              <a:t>so</a:t>
            </a:r>
            <a:r>
              <a:rPr lang="en-US" sz="3000">
                <a:latin typeface="Arial"/>
                <a:ea typeface="Arial"/>
                <a:cs typeface="Arial"/>
                <a:sym typeface="Arial"/>
              </a:rPr>
              <a:t> many professionals continue learning throughout their careers. </a:t>
            </a:r>
            <a:r>
              <a:rPr b="1" lang="en-US" sz="3000">
                <a:latin typeface="Arial"/>
                <a:ea typeface="Arial"/>
                <a:cs typeface="Arial"/>
                <a:sym typeface="Arial"/>
              </a:rPr>
              <a:t>Although</a:t>
            </a:r>
            <a:r>
              <a:rPr lang="en-US" sz="3000">
                <a:latin typeface="Arial"/>
                <a:ea typeface="Arial"/>
                <a:cs typeface="Arial"/>
                <a:sym typeface="Arial"/>
              </a:rPr>
              <a:t> competition can be strong, there is still a high demand for those with specialized knowledge. </a:t>
            </a:r>
            <a:r>
              <a:rPr b="1" lang="en-US" sz="3000">
                <a:latin typeface="Arial"/>
                <a:ea typeface="Arial"/>
                <a:cs typeface="Arial"/>
                <a:sym typeface="Arial"/>
              </a:rPr>
              <a:t>Therefore</a:t>
            </a:r>
            <a:r>
              <a:rPr lang="en-US" sz="3000">
                <a:latin typeface="Arial"/>
                <a:ea typeface="Arial"/>
                <a:cs typeface="Arial"/>
                <a:sym typeface="Arial"/>
              </a:rPr>
              <a:t>, students should focus on both technical skills </a:t>
            </a:r>
            <a:r>
              <a:rPr b="1" lang="en-US" sz="3000">
                <a:latin typeface="Arial"/>
                <a:ea typeface="Arial"/>
                <a:cs typeface="Arial"/>
                <a:sym typeface="Arial"/>
              </a:rPr>
              <a:t>and</a:t>
            </a:r>
            <a:r>
              <a:rPr lang="en-US" sz="3000">
                <a:latin typeface="Arial"/>
                <a:ea typeface="Arial"/>
                <a:cs typeface="Arial"/>
                <a:sym typeface="Arial"/>
              </a:rPr>
              <a:t> problem-solving abilities to succeed.</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Galeria">
  <a:themeElements>
    <a:clrScheme name="Galeria">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