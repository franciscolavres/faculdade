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aleway"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87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pt-BR" dirty="0"/>
              <a:t>Aula 4 – Cognatos e Falsos Cognatos</a:t>
            </a:r>
            <a:endParaRPr dirty="0"/>
          </a:p>
        </p:txBody>
      </p:sp>
      <p:sp>
        <p:nvSpPr>
          <p:cNvPr id="85" name="Google Shape;85;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pt-BR" dirty="0"/>
              <a:t>INGLÊS PARA COMPUTAÇÃO</a:t>
            </a:r>
            <a:endParaRPr dirty="0"/>
          </a:p>
          <a:p>
            <a:pPr marL="0" lvl="0" indent="0" algn="ctr" rtl="0">
              <a:lnSpc>
                <a:spcPct val="90000"/>
              </a:lnSpc>
              <a:spcBef>
                <a:spcPts val="1000"/>
              </a:spcBef>
              <a:spcAft>
                <a:spcPts val="0"/>
              </a:spcAft>
              <a:buClr>
                <a:schemeClr val="dk1"/>
              </a:buClr>
              <a:buSzPts val="2400"/>
              <a:buNone/>
            </a:pPr>
            <a:endParaRPr dirty="0"/>
          </a:p>
          <a:p>
            <a:pPr marL="0" lvl="0" indent="0" algn="ctr" rtl="0">
              <a:lnSpc>
                <a:spcPct val="90000"/>
              </a:lnSpc>
              <a:spcBef>
                <a:spcPts val="1000"/>
              </a:spcBef>
              <a:spcAft>
                <a:spcPts val="0"/>
              </a:spcAft>
              <a:buClr>
                <a:schemeClr val="dk1"/>
              </a:buClr>
              <a:buSzPts val="2400"/>
              <a:buNone/>
            </a:pPr>
            <a:r>
              <a:rPr lang="pt-BR" dirty="0" err="1"/>
              <a:t>Profª</a:t>
            </a:r>
            <a:r>
              <a:rPr lang="pt-BR" dirty="0"/>
              <a:t> Marcela Hardman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COGNATOS</a:t>
            </a:r>
            <a:endParaRPr/>
          </a:p>
        </p:txBody>
      </p:sp>
      <p:sp>
        <p:nvSpPr>
          <p:cNvPr id="91" name="Google Shape;91;p14"/>
          <p:cNvSpPr txBox="1">
            <a:spLocks noGrp="1"/>
          </p:cNvSpPr>
          <p:nvPr>
            <p:ph type="body" idx="1"/>
          </p:nvPr>
        </p:nvSpPr>
        <p:spPr>
          <a:xfrm>
            <a:off x="144379" y="1572126"/>
            <a:ext cx="11790947" cy="506930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pt-BR"/>
              <a:t>Muito comuns na Língua Inglesa, os cognatos são palavras de procedência grega ou latina, bastantes parecidas com as da Língua Portuguesa, tanto na forma, como no significado. Os cognatos podem ser: </a:t>
            </a:r>
            <a:endParaRPr/>
          </a:p>
          <a:p>
            <a:pPr marL="228600" lvl="0" indent="-228600" algn="just" rtl="0">
              <a:lnSpc>
                <a:spcPct val="90000"/>
              </a:lnSpc>
              <a:spcBef>
                <a:spcPts val="1000"/>
              </a:spcBef>
              <a:spcAft>
                <a:spcPts val="0"/>
              </a:spcAft>
              <a:buClr>
                <a:schemeClr val="dk1"/>
              </a:buClr>
              <a:buSzPct val="100000"/>
              <a:buChar char="•"/>
            </a:pPr>
            <a:r>
              <a:rPr lang="pt-BR"/>
              <a:t>Idênticos: radio, piano, hospital, hotel, sofa, nuclear, social, total, particular, chance, camera, inventor, etc. </a:t>
            </a:r>
            <a:endParaRPr/>
          </a:p>
          <a:p>
            <a:pPr marL="228600" lvl="0" indent="-228600" algn="just" rtl="0">
              <a:lnSpc>
                <a:spcPct val="90000"/>
              </a:lnSpc>
              <a:spcBef>
                <a:spcPts val="1000"/>
              </a:spcBef>
              <a:spcAft>
                <a:spcPts val="0"/>
              </a:spcAft>
              <a:buClr>
                <a:schemeClr val="dk1"/>
              </a:buClr>
              <a:buSzPct val="100000"/>
              <a:buChar char="•"/>
            </a:pPr>
            <a:r>
              <a:rPr lang="pt-BR"/>
              <a:t>Bastante parecidos: gasoline, banks, inflation, intelligent, population, revolution, commercial, attention, different, products, secretary, billion, dramatic, deposits, distribution, automatic, television, public, events, models, etc. </a:t>
            </a:r>
            <a:endParaRPr/>
          </a:p>
          <a:p>
            <a:pPr marL="228600" lvl="0" indent="-228600" algn="just" rtl="0">
              <a:lnSpc>
                <a:spcPct val="90000"/>
              </a:lnSpc>
              <a:spcBef>
                <a:spcPts val="1000"/>
              </a:spcBef>
              <a:spcAft>
                <a:spcPts val="0"/>
              </a:spcAft>
              <a:buClr>
                <a:schemeClr val="dk1"/>
              </a:buClr>
              <a:buSzPct val="100000"/>
              <a:buChar char="•"/>
            </a:pPr>
            <a:r>
              <a:rPr lang="pt-BR"/>
              <a:t>Vagamente parecidos: electricity, responsible, explain, activity, impossible, lamp, company, etc. </a:t>
            </a:r>
            <a:endParaRPr/>
          </a:p>
          <a:p>
            <a:pPr marL="228600" lvl="0" indent="-228600" algn="just" rtl="0">
              <a:lnSpc>
                <a:spcPct val="90000"/>
              </a:lnSpc>
              <a:spcBef>
                <a:spcPts val="1000"/>
              </a:spcBef>
              <a:spcAft>
                <a:spcPts val="0"/>
              </a:spcAft>
              <a:buClr>
                <a:schemeClr val="dk1"/>
              </a:buClr>
              <a:buSzPct val="100000"/>
              <a:buChar char="•"/>
            </a:pPr>
            <a:r>
              <a:rPr lang="pt-BR"/>
              <a:t>Familiares são palavras conhecidas pela maioria das pessoas que vive em um país altamente influenciado pela cultura dos países de Língua Inglesa. Não têm a mesma origem das palavras da Língua Portuguesa. Alguns exemplos de Familiares: Software, Windows, Hot dog e Diet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FALSOS COGNATOS</a:t>
            </a:r>
            <a:endParaRPr/>
          </a:p>
        </p:txBody>
      </p:sp>
      <p:sp>
        <p:nvSpPr>
          <p:cNvPr id="97" name="Google Shape;97;p15"/>
          <p:cNvSpPr txBox="1">
            <a:spLocks noGrp="1"/>
          </p:cNvSpPr>
          <p:nvPr>
            <p:ph type="body" idx="1"/>
          </p:nvPr>
        </p:nvSpPr>
        <p:spPr>
          <a:xfrm>
            <a:off x="194733" y="1473200"/>
            <a:ext cx="11548088" cy="5019676"/>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pt-BR" sz="4400"/>
              <a:t>Também chamados de falsos amigos, os FALSOS COGNATOS são palavras normalmente derivadas do latim, que têm, portanto, a mesma origem e que aparecem em diferentes idiomas com ortografia semelhante, mas que ao longo dos tempos acabaram adquirindo significados diferentes.</a:t>
            </a:r>
            <a:endParaRPr sz="3500" b="0" i="0">
              <a:solidFill>
                <a:srgbClr val="0A0A0A"/>
              </a:solidFill>
              <a:latin typeface="Raleway"/>
              <a:ea typeface="Raleway"/>
              <a:cs typeface="Raleway"/>
              <a:sym typeface="Raleway"/>
            </a:endParaRPr>
          </a:p>
          <a:p>
            <a:pPr marL="228600" lvl="0" indent="-228600" algn="l" rtl="0">
              <a:lnSpc>
                <a:spcPct val="90000"/>
              </a:lnSpc>
              <a:spcBef>
                <a:spcPts val="1000"/>
              </a:spcBef>
              <a:spcAft>
                <a:spcPts val="0"/>
              </a:spcAft>
              <a:buClr>
                <a:schemeClr val="dk1"/>
              </a:buClr>
              <a:buSzPct val="100000"/>
              <a:buChar char="•"/>
            </a:pPr>
            <a:r>
              <a:rPr lang="pt-BR" sz="3500"/>
              <a:t>Actual – real, verdadeiro</a:t>
            </a:r>
            <a:endParaRPr/>
          </a:p>
          <a:p>
            <a:pPr marL="228600" lvl="0" indent="-228600" algn="l" rtl="0">
              <a:lnSpc>
                <a:spcPct val="90000"/>
              </a:lnSpc>
              <a:spcBef>
                <a:spcPts val="1000"/>
              </a:spcBef>
              <a:spcAft>
                <a:spcPts val="0"/>
              </a:spcAft>
              <a:buClr>
                <a:schemeClr val="dk1"/>
              </a:buClr>
              <a:buSzPct val="100000"/>
              <a:buChar char="•"/>
            </a:pPr>
            <a:r>
              <a:rPr lang="pt-BR" sz="3500"/>
              <a:t>Actually - na verdade</a:t>
            </a:r>
            <a:endParaRPr/>
          </a:p>
          <a:p>
            <a:pPr marL="228600" lvl="0" indent="-228600" algn="l" rtl="0">
              <a:lnSpc>
                <a:spcPct val="90000"/>
              </a:lnSpc>
              <a:spcBef>
                <a:spcPts val="1000"/>
              </a:spcBef>
              <a:spcAft>
                <a:spcPts val="0"/>
              </a:spcAft>
              <a:buClr>
                <a:schemeClr val="dk1"/>
              </a:buClr>
              <a:buSzPct val="100000"/>
              <a:buChar char="•"/>
            </a:pPr>
            <a:r>
              <a:rPr lang="pt-BR" sz="3500"/>
              <a:t>Adept – profundo conhecedor</a:t>
            </a:r>
            <a:endParaRPr/>
          </a:p>
          <a:p>
            <a:pPr marL="228600" lvl="0" indent="-228600" algn="l" rtl="0">
              <a:lnSpc>
                <a:spcPct val="90000"/>
              </a:lnSpc>
              <a:spcBef>
                <a:spcPts val="1000"/>
              </a:spcBef>
              <a:spcAft>
                <a:spcPts val="0"/>
              </a:spcAft>
              <a:buClr>
                <a:schemeClr val="dk1"/>
              </a:buClr>
              <a:buSzPct val="100000"/>
              <a:buChar char="•"/>
            </a:pPr>
            <a:r>
              <a:rPr lang="pt-BR" sz="3500"/>
              <a:t>Costume  - fantasia</a:t>
            </a:r>
            <a:endParaRPr/>
          </a:p>
          <a:p>
            <a:pPr marL="228600" lvl="0" indent="-228600" algn="l" rtl="0">
              <a:lnSpc>
                <a:spcPct val="90000"/>
              </a:lnSpc>
              <a:spcBef>
                <a:spcPts val="1000"/>
              </a:spcBef>
              <a:spcAft>
                <a:spcPts val="0"/>
              </a:spcAft>
              <a:buClr>
                <a:schemeClr val="dk1"/>
              </a:buClr>
              <a:buSzPct val="100000"/>
              <a:buFont typeface="Arial"/>
              <a:buChar char="•"/>
            </a:pPr>
            <a:r>
              <a:rPr lang="pt-BR" sz="3500"/>
              <a:t>Mayor - prefeito </a:t>
            </a:r>
            <a:endParaRPr/>
          </a:p>
          <a:p>
            <a:pPr marL="228600" lvl="0" indent="-228600" algn="l" rtl="0">
              <a:lnSpc>
                <a:spcPct val="90000"/>
              </a:lnSpc>
              <a:spcBef>
                <a:spcPts val="1000"/>
              </a:spcBef>
              <a:spcAft>
                <a:spcPts val="0"/>
              </a:spcAft>
              <a:buClr>
                <a:schemeClr val="dk1"/>
              </a:buClr>
              <a:buSzPct val="100000"/>
              <a:buFont typeface="Arial"/>
              <a:buChar char="•"/>
            </a:pPr>
            <a:r>
              <a:rPr lang="pt-BR" sz="3500"/>
              <a:t>Novel - romance</a:t>
            </a:r>
            <a:endParaRPr/>
          </a:p>
          <a:p>
            <a:pPr marL="228600" lvl="0" indent="-228600" algn="l" rtl="0">
              <a:lnSpc>
                <a:spcPct val="90000"/>
              </a:lnSpc>
              <a:spcBef>
                <a:spcPts val="1000"/>
              </a:spcBef>
              <a:spcAft>
                <a:spcPts val="0"/>
              </a:spcAft>
              <a:buClr>
                <a:schemeClr val="dk1"/>
              </a:buClr>
              <a:buSzPct val="100000"/>
              <a:buFont typeface="Arial"/>
              <a:buChar char="•"/>
            </a:pPr>
            <a:r>
              <a:rPr lang="pt-BR" sz="3500"/>
              <a:t>Parents - pais</a:t>
            </a:r>
            <a:endParaRPr/>
          </a:p>
          <a:p>
            <a:pPr marL="228600" lvl="0" indent="-228600" algn="l" rtl="0">
              <a:lnSpc>
                <a:spcPct val="90000"/>
              </a:lnSpc>
              <a:spcBef>
                <a:spcPts val="1000"/>
              </a:spcBef>
              <a:spcAft>
                <a:spcPts val="0"/>
              </a:spcAft>
              <a:buClr>
                <a:schemeClr val="dk1"/>
              </a:buClr>
              <a:buSzPct val="100000"/>
              <a:buFont typeface="Arial"/>
              <a:buChar char="•"/>
            </a:pPr>
            <a:r>
              <a:rPr lang="pt-BR" sz="3500"/>
              <a:t>Prejudice - preconceito</a:t>
            </a:r>
            <a:endParaRPr/>
          </a:p>
          <a:p>
            <a:pPr marL="228600" lvl="0" indent="-228600" algn="l" rtl="0">
              <a:lnSpc>
                <a:spcPct val="90000"/>
              </a:lnSpc>
              <a:spcBef>
                <a:spcPts val="1000"/>
              </a:spcBef>
              <a:spcAft>
                <a:spcPts val="0"/>
              </a:spcAft>
              <a:buClr>
                <a:schemeClr val="dk1"/>
              </a:buClr>
              <a:buSzPct val="100000"/>
              <a:buChar char="•"/>
            </a:pPr>
            <a:r>
              <a:rPr lang="pt-BR" sz="3500"/>
              <a:t>Realize - perceber</a:t>
            </a:r>
            <a:endParaRPr/>
          </a:p>
          <a:p>
            <a:pPr marL="228600" lvl="0" indent="-228600" algn="l" rtl="0">
              <a:lnSpc>
                <a:spcPct val="90000"/>
              </a:lnSpc>
              <a:spcBef>
                <a:spcPts val="1000"/>
              </a:spcBef>
              <a:spcAft>
                <a:spcPts val="0"/>
              </a:spcAft>
              <a:buClr>
                <a:schemeClr val="dk1"/>
              </a:buClr>
              <a:buSzPct val="100000"/>
              <a:buFont typeface="Arial"/>
              <a:buChar char="•"/>
            </a:pPr>
            <a:r>
              <a:rPr lang="pt-BR" sz="3500"/>
              <a:t>Sensible - sensato </a:t>
            </a:r>
            <a:endParaRPr/>
          </a:p>
          <a:p>
            <a:pPr marL="228600" lvl="0" indent="-228600" algn="l" rtl="0">
              <a:lnSpc>
                <a:spcPct val="90000"/>
              </a:lnSpc>
              <a:spcBef>
                <a:spcPts val="1000"/>
              </a:spcBef>
              <a:spcAft>
                <a:spcPts val="0"/>
              </a:spcAft>
              <a:buClr>
                <a:schemeClr val="dk1"/>
              </a:buClr>
              <a:buSzPct val="100000"/>
              <a:buFont typeface="Arial"/>
              <a:buChar char="•"/>
            </a:pPr>
            <a:r>
              <a:rPr lang="pt-BR" sz="3500"/>
              <a:t>Service - atendimento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pt-BR"/>
              <a:t>Atividade 1 – em grupo</a:t>
            </a:r>
            <a:endParaRPr/>
          </a:p>
        </p:txBody>
      </p:sp>
      <p:sp>
        <p:nvSpPr>
          <p:cNvPr id="103" name="Google Shape;103;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pt-BR"/>
              <a:t>Tentem inferir como foi o dia deste executivo</a:t>
            </a:r>
            <a:endParaRPr/>
          </a:p>
        </p:txBody>
      </p:sp>
      <p:sp>
        <p:nvSpPr>
          <p:cNvPr id="109" name="Google Shape;109;p17"/>
          <p:cNvSpPr txBox="1">
            <a:spLocks noGrp="1"/>
          </p:cNvSpPr>
          <p:nvPr>
            <p:ph type="body" idx="1"/>
          </p:nvPr>
        </p:nvSpPr>
        <p:spPr>
          <a:xfrm>
            <a:off x="272716" y="1690688"/>
            <a:ext cx="11582400" cy="5167311"/>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just" rtl="0">
              <a:lnSpc>
                <a:spcPct val="90000"/>
              </a:lnSpc>
              <a:spcBef>
                <a:spcPts val="0"/>
              </a:spcBef>
              <a:spcAft>
                <a:spcPts val="0"/>
              </a:spcAft>
              <a:buClr>
                <a:schemeClr val="dk1"/>
              </a:buClr>
              <a:buSzPct val="100000"/>
              <a:buChar char="•"/>
            </a:pPr>
            <a:r>
              <a:rPr lang="pt-BR">
                <a:latin typeface="Arial"/>
                <a:ea typeface="Arial"/>
                <a:cs typeface="Arial"/>
                <a:sym typeface="Arial"/>
              </a:rPr>
              <a:t>In the morning I </a:t>
            </a:r>
            <a:r>
              <a:rPr lang="pt-BR" b="1">
                <a:latin typeface="Arial"/>
                <a:ea typeface="Arial"/>
                <a:cs typeface="Arial"/>
                <a:sym typeface="Arial"/>
              </a:rPr>
              <a:t>attended</a:t>
            </a:r>
            <a:r>
              <a:rPr lang="pt-BR">
                <a:latin typeface="Arial"/>
                <a:ea typeface="Arial"/>
                <a:cs typeface="Arial"/>
                <a:sym typeface="Arial"/>
              </a:rPr>
              <a:t> a meeting between </a:t>
            </a:r>
            <a:r>
              <a:rPr lang="pt-BR" b="1">
                <a:latin typeface="Arial"/>
                <a:ea typeface="Arial"/>
                <a:cs typeface="Arial"/>
                <a:sym typeface="Arial"/>
              </a:rPr>
              <a:t>management</a:t>
            </a:r>
            <a:r>
              <a:rPr lang="pt-BR">
                <a:latin typeface="Arial"/>
                <a:ea typeface="Arial"/>
                <a:cs typeface="Arial"/>
                <a:sym typeface="Arial"/>
              </a:rPr>
              <a:t> and union </a:t>
            </a:r>
            <a:r>
              <a:rPr lang="pt-BR" b="1">
                <a:latin typeface="Arial"/>
                <a:ea typeface="Arial"/>
                <a:cs typeface="Arial"/>
                <a:sym typeface="Arial"/>
              </a:rPr>
              <a:t>representatives</a:t>
            </a:r>
            <a:r>
              <a:rPr lang="pt-BR">
                <a:latin typeface="Arial"/>
                <a:ea typeface="Arial"/>
                <a:cs typeface="Arial"/>
                <a:sym typeface="Arial"/>
              </a:rPr>
              <a:t>. The </a:t>
            </a:r>
            <a:r>
              <a:rPr lang="pt-BR" b="1">
                <a:latin typeface="Arial"/>
                <a:ea typeface="Arial"/>
                <a:cs typeface="Arial"/>
                <a:sym typeface="Arial"/>
              </a:rPr>
              <a:t>discussion</a:t>
            </a:r>
            <a:r>
              <a:rPr lang="pt-BR">
                <a:latin typeface="Arial"/>
                <a:ea typeface="Arial"/>
                <a:cs typeface="Arial"/>
                <a:sym typeface="Arial"/>
              </a:rPr>
              <a:t> was very </a:t>
            </a:r>
            <a:r>
              <a:rPr lang="pt-BR" b="1">
                <a:latin typeface="Arial"/>
                <a:ea typeface="Arial"/>
                <a:cs typeface="Arial"/>
                <a:sym typeface="Arial"/>
              </a:rPr>
              <a:t>comprehensive</a:t>
            </a:r>
            <a:r>
              <a:rPr lang="pt-BR">
                <a:latin typeface="Arial"/>
                <a:ea typeface="Arial"/>
                <a:cs typeface="Arial"/>
                <a:sym typeface="Arial"/>
              </a:rPr>
              <a:t>, covering topics like working hours, days off, </a:t>
            </a:r>
            <a:r>
              <a:rPr lang="pt-BR" b="1">
                <a:latin typeface="Arial"/>
                <a:ea typeface="Arial"/>
                <a:cs typeface="Arial"/>
                <a:sym typeface="Arial"/>
              </a:rPr>
              <a:t>retirement</a:t>
            </a:r>
            <a:r>
              <a:rPr lang="pt-BR">
                <a:latin typeface="Arial"/>
                <a:ea typeface="Arial"/>
                <a:cs typeface="Arial"/>
                <a:sym typeface="Arial"/>
              </a:rPr>
              <a:t> age, etc. Both sides were interested in an </a:t>
            </a:r>
            <a:r>
              <a:rPr lang="pt-BR" b="1">
                <a:latin typeface="Arial"/>
                <a:ea typeface="Arial"/>
                <a:cs typeface="Arial"/>
                <a:sym typeface="Arial"/>
              </a:rPr>
              <a:t>agreement</a:t>
            </a:r>
            <a:r>
              <a:rPr lang="pt-BR">
                <a:latin typeface="Arial"/>
                <a:ea typeface="Arial"/>
                <a:cs typeface="Arial"/>
                <a:sym typeface="Arial"/>
              </a:rPr>
              <a:t> and ready to </a:t>
            </a:r>
            <a:r>
              <a:rPr lang="pt-BR" b="1">
                <a:latin typeface="Arial"/>
                <a:ea typeface="Arial"/>
                <a:cs typeface="Arial"/>
                <a:sym typeface="Arial"/>
              </a:rPr>
              <a:t>compromise</a:t>
            </a:r>
            <a:r>
              <a:rPr lang="pt-BR">
                <a:latin typeface="Arial"/>
                <a:ea typeface="Arial"/>
                <a:cs typeface="Arial"/>
                <a:sym typeface="Arial"/>
              </a:rPr>
              <a:t>. The secretary recorded everything in the </a:t>
            </a:r>
            <a:r>
              <a:rPr lang="pt-BR" b="1">
                <a:latin typeface="Arial"/>
                <a:ea typeface="Arial"/>
                <a:cs typeface="Arial"/>
                <a:sym typeface="Arial"/>
              </a:rPr>
              <a:t>notes. Eventually</a:t>
            </a:r>
            <a:r>
              <a:rPr lang="pt-BR">
                <a:latin typeface="Arial"/>
                <a:ea typeface="Arial"/>
                <a:cs typeface="Arial"/>
                <a:sym typeface="Arial"/>
              </a:rPr>
              <a:t>, they decided to set a new meeting to </a:t>
            </a:r>
            <a:r>
              <a:rPr lang="pt-BR" b="1">
                <a:latin typeface="Arial"/>
                <a:ea typeface="Arial"/>
                <a:cs typeface="Arial"/>
                <a:sym typeface="Arial"/>
              </a:rPr>
              <a:t>sign</a:t>
            </a:r>
            <a:r>
              <a:rPr lang="pt-BR">
                <a:latin typeface="Arial"/>
                <a:ea typeface="Arial"/>
                <a:cs typeface="Arial"/>
                <a:sym typeface="Arial"/>
              </a:rPr>
              <a:t> the final draft of the agreement. </a:t>
            </a:r>
            <a:endParaRPr/>
          </a:p>
          <a:p>
            <a:pPr marL="228600" lvl="0" indent="-228600" algn="just" rtl="0">
              <a:lnSpc>
                <a:spcPct val="90000"/>
              </a:lnSpc>
              <a:spcBef>
                <a:spcPts val="1000"/>
              </a:spcBef>
              <a:spcAft>
                <a:spcPts val="0"/>
              </a:spcAft>
              <a:buClr>
                <a:schemeClr val="dk1"/>
              </a:buClr>
              <a:buSzPct val="100000"/>
              <a:buChar char="•"/>
            </a:pPr>
            <a:r>
              <a:rPr lang="pt-BR">
                <a:latin typeface="Arial"/>
                <a:ea typeface="Arial"/>
                <a:cs typeface="Arial"/>
                <a:sym typeface="Arial"/>
              </a:rPr>
              <a:t>Back at the office, a colleague of mine asked me if I had </a:t>
            </a:r>
            <a:r>
              <a:rPr lang="pt-BR" b="1">
                <a:latin typeface="Arial"/>
                <a:ea typeface="Arial"/>
                <a:cs typeface="Arial"/>
                <a:sym typeface="Arial"/>
              </a:rPr>
              <a:t>realized</a:t>
            </a:r>
            <a:r>
              <a:rPr lang="pt-BR">
                <a:latin typeface="Arial"/>
                <a:ea typeface="Arial"/>
                <a:cs typeface="Arial"/>
                <a:sym typeface="Arial"/>
              </a:rPr>
              <a:t> that the proposed agreement would be partially against the company </a:t>
            </a:r>
            <a:r>
              <a:rPr lang="pt-BR" b="1">
                <a:latin typeface="Arial"/>
                <a:ea typeface="Arial"/>
                <a:cs typeface="Arial"/>
                <a:sym typeface="Arial"/>
              </a:rPr>
              <a:t>policy</a:t>
            </a:r>
            <a:r>
              <a:rPr lang="pt-BR">
                <a:latin typeface="Arial"/>
                <a:ea typeface="Arial"/>
                <a:cs typeface="Arial"/>
                <a:sym typeface="Arial"/>
              </a:rPr>
              <a:t> not to accept workers that have already </a:t>
            </a:r>
            <a:r>
              <a:rPr lang="pt-BR" b="1">
                <a:latin typeface="Arial"/>
                <a:ea typeface="Arial"/>
                <a:cs typeface="Arial"/>
                <a:sym typeface="Arial"/>
              </a:rPr>
              <a:t>retired</a:t>
            </a:r>
            <a:r>
              <a:rPr lang="pt-BR">
                <a:latin typeface="Arial"/>
                <a:ea typeface="Arial"/>
                <a:cs typeface="Arial"/>
                <a:sym typeface="Arial"/>
              </a:rPr>
              <a:t>. I </a:t>
            </a:r>
            <a:r>
              <a:rPr lang="pt-BR" b="1">
                <a:latin typeface="Arial"/>
                <a:ea typeface="Arial"/>
                <a:cs typeface="Arial"/>
                <a:sym typeface="Arial"/>
              </a:rPr>
              <a:t>pretended</a:t>
            </a:r>
            <a:r>
              <a:rPr lang="pt-BR">
                <a:latin typeface="Arial"/>
                <a:ea typeface="Arial"/>
                <a:cs typeface="Arial"/>
                <a:sym typeface="Arial"/>
              </a:rPr>
              <a:t> to be really busy and late for an </a:t>
            </a:r>
            <a:r>
              <a:rPr lang="pt-BR" b="1">
                <a:latin typeface="Arial"/>
                <a:ea typeface="Arial"/>
                <a:cs typeface="Arial"/>
                <a:sym typeface="Arial"/>
              </a:rPr>
              <a:t>appointment,</a:t>
            </a:r>
            <a:r>
              <a:rPr lang="pt-BR">
                <a:latin typeface="Arial"/>
                <a:ea typeface="Arial"/>
                <a:cs typeface="Arial"/>
                <a:sym typeface="Arial"/>
              </a:rPr>
              <a:t> and left for the </a:t>
            </a:r>
            <a:r>
              <a:rPr lang="pt-BR" b="1">
                <a:latin typeface="Arial"/>
                <a:ea typeface="Arial"/>
                <a:cs typeface="Arial"/>
                <a:sym typeface="Arial"/>
              </a:rPr>
              <a:t>cafeteria</a:t>
            </a:r>
            <a:r>
              <a:rPr lang="pt-BR">
                <a:latin typeface="Arial"/>
                <a:ea typeface="Arial"/>
                <a:cs typeface="Arial"/>
                <a:sym typeface="Arial"/>
              </a:rPr>
              <a:t>. </a:t>
            </a:r>
            <a:r>
              <a:rPr lang="pt-BR" b="1">
                <a:latin typeface="Arial"/>
                <a:ea typeface="Arial"/>
                <a:cs typeface="Arial"/>
                <a:sym typeface="Arial"/>
              </a:rPr>
              <a:t>Actually, </a:t>
            </a:r>
            <a:r>
              <a:rPr lang="pt-BR">
                <a:latin typeface="Arial"/>
                <a:ea typeface="Arial"/>
                <a:cs typeface="Arial"/>
                <a:sym typeface="Arial"/>
              </a:rPr>
              <a:t>I didn't want to discuss the </a:t>
            </a:r>
            <a:r>
              <a:rPr lang="pt-BR" b="1">
                <a:latin typeface="Arial"/>
                <a:ea typeface="Arial"/>
                <a:cs typeface="Arial"/>
                <a:sym typeface="Arial"/>
              </a:rPr>
              <a:t>matter </a:t>
            </a:r>
            <a:r>
              <a:rPr lang="pt-BR">
                <a:latin typeface="Arial"/>
                <a:ea typeface="Arial"/>
                <a:cs typeface="Arial"/>
                <a:sym typeface="Arial"/>
              </a:rPr>
              <a:t>at that </a:t>
            </a:r>
            <a:r>
              <a:rPr lang="pt-BR" b="1">
                <a:latin typeface="Arial"/>
                <a:ea typeface="Arial"/>
                <a:cs typeface="Arial"/>
                <a:sym typeface="Arial"/>
              </a:rPr>
              <a:t>particular</a:t>
            </a:r>
            <a:r>
              <a:rPr lang="pt-BR">
                <a:latin typeface="Arial"/>
                <a:ea typeface="Arial"/>
                <a:cs typeface="Arial"/>
                <a:sym typeface="Arial"/>
              </a:rPr>
              <a:t> moment because there were some </a:t>
            </a:r>
            <a:r>
              <a:rPr lang="pt-BR" b="1">
                <a:latin typeface="Arial"/>
                <a:ea typeface="Arial"/>
                <a:cs typeface="Arial"/>
                <a:sym typeface="Arial"/>
              </a:rPr>
              <a:t>strangers</a:t>
            </a:r>
            <a:r>
              <a:rPr lang="pt-BR">
                <a:latin typeface="Arial"/>
                <a:ea typeface="Arial"/>
                <a:cs typeface="Arial"/>
                <a:sym typeface="Arial"/>
              </a:rPr>
              <a:t> in the </a:t>
            </a:r>
            <a:r>
              <a:rPr lang="pt-BR" b="1">
                <a:latin typeface="Arial"/>
                <a:ea typeface="Arial"/>
                <a:cs typeface="Arial"/>
                <a:sym typeface="Arial"/>
              </a:rPr>
              <a:t>office. </a:t>
            </a:r>
            <a:endParaRPr/>
          </a:p>
          <a:p>
            <a:pPr marL="228600" lvl="0" indent="-228600" algn="just" rtl="0">
              <a:lnSpc>
                <a:spcPct val="90000"/>
              </a:lnSpc>
              <a:spcBef>
                <a:spcPts val="1000"/>
              </a:spcBef>
              <a:spcAft>
                <a:spcPts val="0"/>
              </a:spcAft>
              <a:buClr>
                <a:schemeClr val="dk1"/>
              </a:buClr>
              <a:buSzPct val="100000"/>
              <a:buChar char="•"/>
            </a:pPr>
            <a:r>
              <a:rPr lang="pt-BR">
                <a:latin typeface="Arial"/>
                <a:ea typeface="Arial"/>
                <a:cs typeface="Arial"/>
                <a:sym typeface="Arial"/>
              </a:rPr>
              <a:t>After lunch I </a:t>
            </a:r>
            <a:r>
              <a:rPr lang="pt-BR" b="1">
                <a:latin typeface="Arial"/>
                <a:ea typeface="Arial"/>
                <a:cs typeface="Arial"/>
                <a:sym typeface="Arial"/>
              </a:rPr>
              <a:t>attended</a:t>
            </a:r>
            <a:r>
              <a:rPr lang="pt-BR">
                <a:latin typeface="Arial"/>
                <a:ea typeface="Arial"/>
                <a:cs typeface="Arial"/>
                <a:sym typeface="Arial"/>
              </a:rPr>
              <a:t> a </a:t>
            </a:r>
            <a:r>
              <a:rPr lang="pt-BR" b="1">
                <a:latin typeface="Arial"/>
                <a:ea typeface="Arial"/>
                <a:cs typeface="Arial"/>
                <a:sym typeface="Arial"/>
              </a:rPr>
              <a:t>lecture</a:t>
            </a:r>
            <a:r>
              <a:rPr lang="pt-BR">
                <a:latin typeface="Arial"/>
                <a:ea typeface="Arial"/>
                <a:cs typeface="Arial"/>
                <a:sym typeface="Arial"/>
              </a:rPr>
              <a:t> given by the </a:t>
            </a:r>
            <a:r>
              <a:rPr lang="pt-BR" b="1">
                <a:latin typeface="Arial"/>
                <a:ea typeface="Arial"/>
                <a:cs typeface="Arial"/>
                <a:sym typeface="Arial"/>
              </a:rPr>
              <a:t>mayor</a:t>
            </a:r>
            <a:r>
              <a:rPr lang="pt-BR">
                <a:latin typeface="Arial"/>
                <a:ea typeface="Arial"/>
                <a:cs typeface="Arial"/>
                <a:sym typeface="Arial"/>
              </a:rPr>
              <a:t>, who is an </a:t>
            </a:r>
            <a:r>
              <a:rPr lang="pt-BR" b="1">
                <a:latin typeface="Arial"/>
                <a:ea typeface="Arial"/>
                <a:cs typeface="Arial"/>
                <a:sym typeface="Arial"/>
              </a:rPr>
              <a:t>expert</a:t>
            </a:r>
            <a:r>
              <a:rPr lang="pt-BR">
                <a:latin typeface="Arial"/>
                <a:ea typeface="Arial"/>
                <a:cs typeface="Arial"/>
                <a:sym typeface="Arial"/>
              </a:rPr>
              <a:t> in </a:t>
            </a:r>
            <a:r>
              <a:rPr lang="pt-BR" b="1">
                <a:latin typeface="Arial"/>
                <a:ea typeface="Arial"/>
                <a:cs typeface="Arial"/>
                <a:sym typeface="Arial"/>
              </a:rPr>
              <a:t>tax</a:t>
            </a:r>
            <a:r>
              <a:rPr lang="pt-BR">
                <a:latin typeface="Arial"/>
                <a:ea typeface="Arial"/>
                <a:cs typeface="Arial"/>
                <a:sym typeface="Arial"/>
              </a:rPr>
              <a:t> legislation and has a graduate degree in political science. He said his </a:t>
            </a:r>
            <a:r>
              <a:rPr lang="pt-BR" b="1">
                <a:latin typeface="Arial"/>
                <a:ea typeface="Arial"/>
                <a:cs typeface="Arial"/>
                <a:sym typeface="Arial"/>
              </a:rPr>
              <a:t>government intends </a:t>
            </a:r>
            <a:r>
              <a:rPr lang="pt-BR">
                <a:latin typeface="Arial"/>
                <a:ea typeface="Arial"/>
                <a:cs typeface="Arial"/>
                <a:sym typeface="Arial"/>
              </a:rPr>
              <a:t>to </a:t>
            </a:r>
            <a:r>
              <a:rPr lang="pt-BR" b="1">
                <a:latin typeface="Arial"/>
                <a:ea typeface="Arial"/>
                <a:cs typeface="Arial"/>
                <a:sym typeface="Arial"/>
              </a:rPr>
              <a:t>assist</a:t>
            </a:r>
            <a:r>
              <a:rPr lang="pt-BR">
                <a:latin typeface="Arial"/>
                <a:ea typeface="Arial"/>
                <a:cs typeface="Arial"/>
                <a:sym typeface="Arial"/>
              </a:rPr>
              <a:t> welfare programs and </a:t>
            </a:r>
            <a:r>
              <a:rPr lang="pt-BR" b="1">
                <a:latin typeface="Arial"/>
                <a:ea typeface="Arial"/>
                <a:cs typeface="Arial"/>
                <a:sym typeface="Arial"/>
              </a:rPr>
              <a:t>senior citizens</a:t>
            </a:r>
            <a:r>
              <a:rPr lang="pt-BR">
                <a:latin typeface="Arial"/>
                <a:ea typeface="Arial"/>
                <a:cs typeface="Arial"/>
                <a:sym typeface="Arial"/>
              </a:rPr>
              <a:t>, raise funds to </a:t>
            </a:r>
            <a:r>
              <a:rPr lang="pt-BR" b="1">
                <a:latin typeface="Arial"/>
                <a:ea typeface="Arial"/>
                <a:cs typeface="Arial"/>
                <a:sym typeface="Arial"/>
              </a:rPr>
              <a:t>improve college </a:t>
            </a:r>
            <a:r>
              <a:rPr lang="pt-BR">
                <a:latin typeface="Arial"/>
                <a:ea typeface="Arial"/>
                <a:cs typeface="Arial"/>
                <a:sym typeface="Arial"/>
              </a:rPr>
              <a:t>education and build a public </a:t>
            </a:r>
            <a:r>
              <a:rPr lang="pt-BR" b="1">
                <a:latin typeface="Arial"/>
                <a:ea typeface="Arial"/>
                <a:cs typeface="Arial"/>
                <a:sym typeface="Arial"/>
              </a:rPr>
              <a:t>library, </a:t>
            </a:r>
            <a:r>
              <a:rPr lang="pt-BR">
                <a:latin typeface="Arial"/>
                <a:ea typeface="Arial"/>
                <a:cs typeface="Arial"/>
                <a:sym typeface="Arial"/>
              </a:rPr>
              <a:t>and establish tougher limits on vehicle emissions because he </a:t>
            </a:r>
            <a:r>
              <a:rPr lang="pt-BR" b="1">
                <a:latin typeface="Arial"/>
                <a:ea typeface="Arial"/>
                <a:cs typeface="Arial"/>
                <a:sym typeface="Arial"/>
              </a:rPr>
              <a:t>assumes </a:t>
            </a:r>
            <a:r>
              <a:rPr lang="pt-BR">
                <a:latin typeface="Arial"/>
                <a:ea typeface="Arial"/>
                <a:cs typeface="Arial"/>
                <a:sym typeface="Arial"/>
              </a:rPr>
              <a:t>this is what the people </a:t>
            </a:r>
            <a:r>
              <a:rPr lang="pt-BR" b="1">
                <a:latin typeface="Arial"/>
                <a:ea typeface="Arial"/>
                <a:cs typeface="Arial"/>
                <a:sym typeface="Arial"/>
              </a:rPr>
              <a:t>expect </a:t>
            </a:r>
            <a:r>
              <a:rPr lang="pt-BR">
                <a:latin typeface="Arial"/>
                <a:ea typeface="Arial"/>
                <a:cs typeface="Arial"/>
                <a:sym typeface="Arial"/>
              </a:rPr>
              <a:t>from the government.</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Discussão em sala</a:t>
            </a:r>
            <a:endParaRPr/>
          </a:p>
        </p:txBody>
      </p:sp>
      <p:sp>
        <p:nvSpPr>
          <p:cNvPr id="115" name="Google Shape;115;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a:t>O que cada grupo conseguiu entender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pt-BR" b="1"/>
              <a:t>Individualmente - Traduzam todas as palavras que estão em negrito.</a:t>
            </a:r>
            <a:endParaRPr/>
          </a:p>
        </p:txBody>
      </p:sp>
      <p:sp>
        <p:nvSpPr>
          <p:cNvPr id="3" name="Espaço Reservado para Texto 2">
            <a:extLst>
              <a:ext uri="{FF2B5EF4-FFF2-40B4-BE49-F238E27FC236}">
                <a16:creationId xmlns:a16="http://schemas.microsoft.com/office/drawing/2014/main" id="{725B9322-9667-4D6F-B21E-67C21414854F}"/>
              </a:ext>
            </a:extLst>
          </p:cNvPr>
          <p:cNvSpPr>
            <a:spLocks noGrp="1"/>
          </p:cNvSpPr>
          <p:nvPr>
            <p:ph type="body" idx="1"/>
          </p:nvPr>
        </p:nvSpPr>
        <p:spPr/>
        <p:txBody>
          <a:bodyPr/>
          <a:lstStyle/>
          <a:p>
            <a:endParaRPr lang="pt-B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Nova leitura – Identifique cognatos e falsos cognatos</a:t>
            </a:r>
            <a:endParaRPr/>
          </a:p>
        </p:txBody>
      </p:sp>
      <p:sp>
        <p:nvSpPr>
          <p:cNvPr id="127" name="Google Shape;127;p20"/>
          <p:cNvSpPr txBox="1">
            <a:spLocks noGrp="1"/>
          </p:cNvSpPr>
          <p:nvPr>
            <p:ph type="body" idx="1"/>
          </p:nvPr>
        </p:nvSpPr>
        <p:spPr>
          <a:xfrm>
            <a:off x="414867" y="1752600"/>
            <a:ext cx="11590866" cy="47402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t>Quem concluiu o primeiro texto já deverá fazer a identificação dos Cognatos e Falsos Cognatos do segundo texto.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body" idx="1"/>
          </p:nvPr>
        </p:nvSpPr>
        <p:spPr>
          <a:xfrm>
            <a:off x="550333" y="660400"/>
            <a:ext cx="11319934" cy="6053667"/>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0D0D0D"/>
              </a:buClr>
              <a:buSzPts val="2800"/>
              <a:buNone/>
            </a:pPr>
            <a:r>
              <a:rPr lang="pt-BR" b="0" i="0">
                <a:solidFill>
                  <a:srgbClr val="0D0D0D"/>
                </a:solidFill>
                <a:latin typeface="Arial"/>
                <a:ea typeface="Arial"/>
                <a:cs typeface="Arial"/>
                <a:sym typeface="Arial"/>
              </a:rPr>
              <a:t>Let's delve into the vibrant world of computing, a field that intersects innovation, technology, and human ingenuity. As we explore this domain, it's fascinating to observe how language plays a pivotal role in shaping our understanding and communication, especially when considering the linguistic parallels and divergences between English and Portuguese.</a:t>
            </a:r>
            <a:endParaRPr/>
          </a:p>
          <a:p>
            <a:pPr marL="0" lvl="0" indent="0" algn="l" rtl="0">
              <a:lnSpc>
                <a:spcPct val="90000"/>
              </a:lnSpc>
              <a:spcBef>
                <a:spcPts val="1000"/>
              </a:spcBef>
              <a:spcAft>
                <a:spcPts val="0"/>
              </a:spcAft>
              <a:buClr>
                <a:srgbClr val="0D0D0D"/>
              </a:buClr>
              <a:buSzPts val="2800"/>
              <a:buNone/>
            </a:pPr>
            <a:r>
              <a:rPr lang="pt-BR" b="0" i="0">
                <a:solidFill>
                  <a:srgbClr val="0D0D0D"/>
                </a:solidFill>
                <a:latin typeface="Arial"/>
                <a:ea typeface="Arial"/>
                <a:cs typeface="Arial"/>
                <a:sym typeface="Arial"/>
              </a:rPr>
              <a:t>Computing, at its core, is the science of using computers to solve problems. This realm encompasses various disciplines, including software development, network architecture, and information security. It's a world where algorithms decode complex problems, databases store vast amounts of information, and interfaces connect users with machines in seamless communication.</a:t>
            </a:r>
            <a:endParaRPr/>
          </a:p>
          <a:p>
            <a:pPr marL="0" lvl="0" indent="0" algn="l" rtl="0">
              <a:lnSpc>
                <a:spcPct val="90000"/>
              </a:lnSpc>
              <a:spcBef>
                <a:spcPts val="1000"/>
              </a:spcBef>
              <a:spcAft>
                <a:spcPts val="0"/>
              </a:spcAft>
              <a:buClr>
                <a:srgbClr val="0D0D0D"/>
              </a:buClr>
              <a:buSzPts val="2800"/>
              <a:buNone/>
            </a:pPr>
            <a:r>
              <a:rPr lang="pt-BR" b="0" i="0">
                <a:solidFill>
                  <a:srgbClr val="0D0D0D"/>
                </a:solidFill>
                <a:latin typeface="Arial"/>
                <a:ea typeface="Arial"/>
                <a:cs typeface="Arial"/>
                <a:sym typeface="Arial"/>
              </a:rPr>
              <a:t>In the heart of computing lies programming, the art of crafting code. Languages like Python, Java, and C++ are universal tools in the programmer's arsenal, transcending geographical and linguistic boundaries. These languages, with their syntax and structure, are akin to the building blocks of a global digital infrastructure.</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a:spLocks noGrp="1"/>
          </p:cNvSpPr>
          <p:nvPr>
            <p:ph type="body" idx="1"/>
          </p:nvPr>
        </p:nvSpPr>
        <p:spPr>
          <a:xfrm>
            <a:off x="300566" y="350761"/>
            <a:ext cx="11590867" cy="58674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0D0D0D"/>
              </a:buClr>
              <a:buSzPct val="100000"/>
              <a:buNone/>
            </a:pPr>
            <a:r>
              <a:rPr lang="pt-BR" b="0" i="0" dirty="0">
                <a:solidFill>
                  <a:srgbClr val="0D0D0D"/>
                </a:solidFill>
                <a:latin typeface="Arial"/>
                <a:ea typeface="Arial"/>
                <a:cs typeface="Arial"/>
                <a:sym typeface="Arial"/>
              </a:rPr>
              <a:t>The Internet, a </a:t>
            </a:r>
            <a:r>
              <a:rPr lang="pt-BR" b="0" i="0" dirty="0" err="1">
                <a:solidFill>
                  <a:srgbClr val="0D0D0D"/>
                </a:solidFill>
                <a:latin typeface="Arial"/>
                <a:ea typeface="Arial"/>
                <a:cs typeface="Arial"/>
                <a:sym typeface="Arial"/>
              </a:rPr>
              <a:t>cornerstone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modern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exemplifies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global </a:t>
            </a:r>
            <a:r>
              <a:rPr lang="pt-BR" b="0" i="0" dirty="0" err="1">
                <a:solidFill>
                  <a:srgbClr val="0D0D0D"/>
                </a:solidFill>
                <a:latin typeface="Arial"/>
                <a:ea typeface="Arial"/>
                <a:cs typeface="Arial"/>
                <a:sym typeface="Arial"/>
              </a:rPr>
              <a:t>network's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reach</a:t>
            </a:r>
            <a:r>
              <a:rPr lang="pt-BR" b="0" i="0" dirty="0">
                <a:solidFill>
                  <a:srgbClr val="0D0D0D"/>
                </a:solidFill>
                <a:latin typeface="Arial"/>
                <a:ea typeface="Arial"/>
                <a:cs typeface="Arial"/>
                <a:sym typeface="Arial"/>
              </a:rPr>
              <a:t>. It </a:t>
            </a:r>
            <a:r>
              <a:rPr lang="pt-BR" b="0" i="0" dirty="0" err="1">
                <a:solidFill>
                  <a:srgbClr val="0D0D0D"/>
                </a:solidFill>
                <a:latin typeface="Arial"/>
                <a:ea typeface="Arial"/>
                <a:cs typeface="Arial"/>
                <a:sym typeface="Arial"/>
              </a:rPr>
              <a:t>connects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billions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devices, </a:t>
            </a:r>
            <a:r>
              <a:rPr lang="pt-BR" b="0" i="0" dirty="0" err="1">
                <a:solidFill>
                  <a:srgbClr val="0D0D0D"/>
                </a:solidFill>
                <a:latin typeface="Arial"/>
                <a:ea typeface="Arial"/>
                <a:cs typeface="Arial"/>
                <a:sym typeface="Arial"/>
              </a:rPr>
              <a:t>enabling</a:t>
            </a:r>
            <a:r>
              <a:rPr lang="pt-BR" b="0" i="0" dirty="0">
                <a:solidFill>
                  <a:srgbClr val="0D0D0D"/>
                </a:solidFill>
                <a:latin typeface="Arial"/>
                <a:ea typeface="Arial"/>
                <a:cs typeface="Arial"/>
                <a:sym typeface="Arial"/>
              </a:rPr>
              <a:t> data </a:t>
            </a:r>
            <a:r>
              <a:rPr lang="pt-BR" b="0" i="0" dirty="0" err="1">
                <a:solidFill>
                  <a:srgbClr val="0D0D0D"/>
                </a:solidFill>
                <a:latin typeface="Arial"/>
                <a:ea typeface="Arial"/>
                <a:cs typeface="Arial"/>
                <a:sym typeface="Arial"/>
              </a:rPr>
              <a:t>exchange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communication </a:t>
            </a:r>
            <a:r>
              <a:rPr lang="pt-BR" b="0" i="0" dirty="0" err="1">
                <a:solidFill>
                  <a:srgbClr val="0D0D0D"/>
                </a:solidFill>
                <a:latin typeface="Arial"/>
                <a:ea typeface="Arial"/>
                <a:cs typeface="Arial"/>
                <a:sym typeface="Arial"/>
              </a:rPr>
              <a:t>at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unprecedented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scales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Here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concepts</a:t>
            </a:r>
            <a:r>
              <a:rPr lang="pt-BR" b="0" i="0" dirty="0">
                <a:solidFill>
                  <a:srgbClr val="0D0D0D"/>
                </a:solidFill>
                <a:latin typeface="Arial"/>
                <a:ea typeface="Arial"/>
                <a:cs typeface="Arial"/>
                <a:sym typeface="Arial"/>
              </a:rPr>
              <a:t> like "cloud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cybersecurity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become</a:t>
            </a:r>
            <a:r>
              <a:rPr lang="pt-BR" b="0" i="0" dirty="0">
                <a:solidFill>
                  <a:srgbClr val="0D0D0D"/>
                </a:solidFill>
                <a:latin typeface="Arial"/>
                <a:ea typeface="Arial"/>
                <a:cs typeface="Arial"/>
                <a:sym typeface="Arial"/>
              </a:rPr>
              <a:t> crucial, as </a:t>
            </a:r>
            <a:r>
              <a:rPr lang="pt-BR" b="0" i="0" dirty="0" err="1">
                <a:solidFill>
                  <a:srgbClr val="0D0D0D"/>
                </a:solidFill>
                <a:latin typeface="Arial"/>
                <a:ea typeface="Arial"/>
                <a:cs typeface="Arial"/>
                <a:sym typeface="Arial"/>
              </a:rPr>
              <a:t>they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ensure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that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our</a:t>
            </a:r>
            <a:r>
              <a:rPr lang="pt-BR" b="0" i="0" dirty="0">
                <a:solidFill>
                  <a:srgbClr val="0D0D0D"/>
                </a:solidFill>
                <a:latin typeface="Arial"/>
                <a:ea typeface="Arial"/>
                <a:cs typeface="Arial"/>
                <a:sym typeface="Arial"/>
              </a:rPr>
              <a:t> digital </a:t>
            </a:r>
            <a:r>
              <a:rPr lang="pt-BR" b="0" i="0" dirty="0" err="1">
                <a:solidFill>
                  <a:srgbClr val="0D0D0D"/>
                </a:solidFill>
                <a:latin typeface="Arial"/>
                <a:ea typeface="Arial"/>
                <a:cs typeface="Arial"/>
                <a:sym typeface="Arial"/>
              </a:rPr>
              <a:t>interactions</a:t>
            </a:r>
            <a:r>
              <a:rPr lang="pt-BR" b="0" i="0" dirty="0">
                <a:solidFill>
                  <a:srgbClr val="0D0D0D"/>
                </a:solidFill>
                <a:latin typeface="Arial"/>
                <a:ea typeface="Arial"/>
                <a:cs typeface="Arial"/>
                <a:sym typeface="Arial"/>
              </a:rPr>
              <a:t> are </a:t>
            </a:r>
            <a:r>
              <a:rPr lang="pt-BR" b="0" i="0" dirty="0" err="1">
                <a:solidFill>
                  <a:srgbClr val="0D0D0D"/>
                </a:solidFill>
                <a:latin typeface="Arial"/>
                <a:ea typeface="Arial"/>
                <a:cs typeface="Arial"/>
                <a:sym typeface="Arial"/>
              </a:rPr>
              <a:t>both</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efficient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secure</a:t>
            </a:r>
            <a:r>
              <a:rPr lang="pt-BR" b="0" i="0" dirty="0">
                <a:solidFill>
                  <a:srgbClr val="0D0D0D"/>
                </a:solidFill>
                <a:latin typeface="Arial"/>
                <a:ea typeface="Arial"/>
                <a:cs typeface="Arial"/>
                <a:sym typeface="Arial"/>
              </a:rPr>
              <a:t>.</a:t>
            </a:r>
            <a:endParaRPr dirty="0"/>
          </a:p>
          <a:p>
            <a:pPr marL="0" lvl="0" indent="0" algn="l" rtl="0">
              <a:lnSpc>
                <a:spcPct val="90000"/>
              </a:lnSpc>
              <a:spcBef>
                <a:spcPts val="1000"/>
              </a:spcBef>
              <a:spcAft>
                <a:spcPts val="0"/>
              </a:spcAft>
              <a:buClr>
                <a:srgbClr val="0D0D0D"/>
              </a:buClr>
              <a:buSzPct val="100000"/>
              <a:buNone/>
            </a:pPr>
            <a:r>
              <a:rPr lang="pt-BR" b="0" i="0" dirty="0" err="1">
                <a:solidFill>
                  <a:srgbClr val="0D0D0D"/>
                </a:solidFill>
                <a:latin typeface="Arial"/>
                <a:ea typeface="Arial"/>
                <a:cs typeface="Arial"/>
                <a:sym typeface="Arial"/>
              </a:rPr>
              <a:t>One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cannot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discuss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without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mentioning</a:t>
            </a:r>
            <a:r>
              <a:rPr lang="pt-BR" b="0" i="0" dirty="0">
                <a:solidFill>
                  <a:srgbClr val="0D0D0D"/>
                </a:solidFill>
                <a:latin typeface="Arial"/>
                <a:ea typeface="Arial"/>
                <a:cs typeface="Arial"/>
                <a:sym typeface="Arial"/>
              </a:rPr>
              <a:t> artificial </a:t>
            </a:r>
            <a:r>
              <a:rPr lang="pt-BR" b="0" i="0" dirty="0" err="1">
                <a:solidFill>
                  <a:srgbClr val="0D0D0D"/>
                </a:solidFill>
                <a:latin typeface="Arial"/>
                <a:ea typeface="Arial"/>
                <a:cs typeface="Arial"/>
                <a:sym typeface="Arial"/>
              </a:rPr>
              <a:t>intelligence</a:t>
            </a:r>
            <a:r>
              <a:rPr lang="pt-BR" b="0" i="0" dirty="0">
                <a:solidFill>
                  <a:srgbClr val="0D0D0D"/>
                </a:solidFill>
                <a:latin typeface="Arial"/>
                <a:ea typeface="Arial"/>
                <a:cs typeface="Arial"/>
                <a:sym typeface="Arial"/>
              </a:rPr>
              <a:t> (AI)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machine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learning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These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fields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represent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frontier</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where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machines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learn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from</a:t>
            </a:r>
            <a:r>
              <a:rPr lang="pt-BR" b="0" i="0" dirty="0">
                <a:solidFill>
                  <a:srgbClr val="0D0D0D"/>
                </a:solidFill>
                <a:latin typeface="Arial"/>
                <a:ea typeface="Arial"/>
                <a:cs typeface="Arial"/>
                <a:sym typeface="Arial"/>
              </a:rPr>
              <a:t> data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make </a:t>
            </a:r>
            <a:r>
              <a:rPr lang="pt-BR" b="0" i="0" dirty="0" err="1">
                <a:solidFill>
                  <a:srgbClr val="0D0D0D"/>
                </a:solidFill>
                <a:latin typeface="Arial"/>
                <a:ea typeface="Arial"/>
                <a:cs typeface="Arial"/>
                <a:sym typeface="Arial"/>
              </a:rPr>
              <a:t>decisions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with</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minimal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human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intervention</a:t>
            </a:r>
            <a:r>
              <a:rPr lang="pt-BR" b="0" i="0" dirty="0">
                <a:solidFill>
                  <a:srgbClr val="0D0D0D"/>
                </a:solidFill>
                <a:latin typeface="Arial"/>
                <a:ea typeface="Arial"/>
                <a:cs typeface="Arial"/>
                <a:sym typeface="Arial"/>
              </a:rPr>
              <a:t>. AI </a:t>
            </a:r>
            <a:r>
              <a:rPr lang="pt-BR" b="0" i="0" dirty="0" err="1">
                <a:solidFill>
                  <a:srgbClr val="0D0D0D"/>
                </a:solidFill>
                <a:latin typeface="Arial"/>
                <a:ea typeface="Arial"/>
                <a:cs typeface="Arial"/>
                <a:sym typeface="Arial"/>
              </a:rPr>
              <a:t>applications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from</a:t>
            </a:r>
            <a:r>
              <a:rPr lang="pt-BR" b="0" i="0" dirty="0">
                <a:solidFill>
                  <a:srgbClr val="0D0D0D"/>
                </a:solidFill>
                <a:latin typeface="Arial"/>
                <a:ea typeface="Arial"/>
                <a:cs typeface="Arial"/>
                <a:sym typeface="Arial"/>
              </a:rPr>
              <a:t> voice </a:t>
            </a:r>
            <a:r>
              <a:rPr lang="pt-BR" b="0" i="0" dirty="0" err="1">
                <a:solidFill>
                  <a:srgbClr val="0D0D0D"/>
                </a:solidFill>
                <a:latin typeface="Arial"/>
                <a:ea typeface="Arial"/>
                <a:cs typeface="Arial"/>
                <a:sym typeface="Arial"/>
              </a:rPr>
              <a:t>assistants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to</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autonomous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vehicles</a:t>
            </a:r>
            <a:r>
              <a:rPr lang="pt-BR" b="0" i="0" dirty="0">
                <a:solidFill>
                  <a:srgbClr val="0D0D0D"/>
                </a:solidFill>
                <a:latin typeface="Arial"/>
                <a:ea typeface="Arial"/>
                <a:cs typeface="Arial"/>
                <a:sym typeface="Arial"/>
              </a:rPr>
              <a:t>, are </a:t>
            </a:r>
            <a:r>
              <a:rPr lang="pt-BR" b="0" i="0" dirty="0" err="1">
                <a:solidFill>
                  <a:srgbClr val="0D0D0D"/>
                </a:solidFill>
                <a:latin typeface="Arial"/>
                <a:ea typeface="Arial"/>
                <a:cs typeface="Arial"/>
                <a:sym typeface="Arial"/>
              </a:rPr>
              <a:t>reshaping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our</a:t>
            </a:r>
            <a:r>
              <a:rPr lang="pt-BR" b="0" i="0" dirty="0">
                <a:solidFill>
                  <a:srgbClr val="0D0D0D"/>
                </a:solidFill>
                <a:latin typeface="Arial"/>
                <a:ea typeface="Arial"/>
                <a:cs typeface="Arial"/>
                <a:sym typeface="Arial"/>
              </a:rPr>
              <a:t> world, </a:t>
            </a:r>
            <a:r>
              <a:rPr lang="pt-BR" b="0" i="0" dirty="0" err="1">
                <a:solidFill>
                  <a:srgbClr val="0D0D0D"/>
                </a:solidFill>
                <a:latin typeface="Arial"/>
                <a:ea typeface="Arial"/>
                <a:cs typeface="Arial"/>
                <a:sym typeface="Arial"/>
              </a:rPr>
              <a:t>illustrating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potential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to</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transcend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traditional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limitations</a:t>
            </a:r>
            <a:r>
              <a:rPr lang="pt-BR" b="0" i="0" dirty="0">
                <a:solidFill>
                  <a:srgbClr val="0D0D0D"/>
                </a:solidFill>
                <a:latin typeface="Arial"/>
                <a:ea typeface="Arial"/>
                <a:cs typeface="Arial"/>
                <a:sym typeface="Arial"/>
              </a:rPr>
              <a:t>.</a:t>
            </a:r>
            <a:endParaRPr dirty="0"/>
          </a:p>
          <a:p>
            <a:pPr marL="0" lvl="0" indent="0" algn="l" rtl="0">
              <a:lnSpc>
                <a:spcPct val="90000"/>
              </a:lnSpc>
              <a:spcBef>
                <a:spcPts val="1000"/>
              </a:spcBef>
              <a:spcAft>
                <a:spcPts val="0"/>
              </a:spcAft>
              <a:buClr>
                <a:srgbClr val="0D0D0D"/>
              </a:buClr>
              <a:buSzPct val="100000"/>
              <a:buNone/>
            </a:pPr>
            <a:r>
              <a:rPr lang="pt-BR" b="0" i="0" dirty="0" err="1">
                <a:solidFill>
                  <a:srgbClr val="0D0D0D"/>
                </a:solidFill>
                <a:latin typeface="Arial"/>
                <a:ea typeface="Arial"/>
                <a:cs typeface="Arial"/>
                <a:sym typeface="Arial"/>
              </a:rPr>
              <a:t>Despite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these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advances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challenges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persist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Issues</a:t>
            </a:r>
            <a:r>
              <a:rPr lang="pt-BR" b="0" i="0" dirty="0">
                <a:solidFill>
                  <a:srgbClr val="0D0D0D"/>
                </a:solidFill>
                <a:latin typeface="Arial"/>
                <a:ea typeface="Arial"/>
                <a:cs typeface="Arial"/>
                <a:sym typeface="Arial"/>
              </a:rPr>
              <a:t> like </a:t>
            </a:r>
            <a:r>
              <a:rPr lang="pt-BR" b="0" i="0" dirty="0" err="1">
                <a:solidFill>
                  <a:srgbClr val="0D0D0D"/>
                </a:solidFill>
                <a:latin typeface="Arial"/>
                <a:ea typeface="Arial"/>
                <a:cs typeface="Arial"/>
                <a:sym typeface="Arial"/>
              </a:rPr>
              <a:t>privacy</a:t>
            </a:r>
            <a:r>
              <a:rPr lang="pt-BR" b="0" i="0" dirty="0">
                <a:solidFill>
                  <a:srgbClr val="0D0D0D"/>
                </a:solidFill>
                <a:latin typeface="Arial"/>
                <a:ea typeface="Arial"/>
                <a:cs typeface="Arial"/>
                <a:sym typeface="Arial"/>
              </a:rPr>
              <a:t>, digital divide,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ethical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considerations</a:t>
            </a:r>
            <a:r>
              <a:rPr lang="pt-BR" b="0" i="0" dirty="0">
                <a:solidFill>
                  <a:srgbClr val="0D0D0D"/>
                </a:solidFill>
                <a:latin typeface="Arial"/>
                <a:ea typeface="Arial"/>
                <a:cs typeface="Arial"/>
                <a:sym typeface="Arial"/>
              </a:rPr>
              <a:t> in AI </a:t>
            </a:r>
            <a:r>
              <a:rPr lang="pt-BR" b="0" i="0" dirty="0" err="1">
                <a:solidFill>
                  <a:srgbClr val="0D0D0D"/>
                </a:solidFill>
                <a:latin typeface="Arial"/>
                <a:ea typeface="Arial"/>
                <a:cs typeface="Arial"/>
                <a:sym typeface="Arial"/>
              </a:rPr>
              <a:t>development</a:t>
            </a:r>
            <a:r>
              <a:rPr lang="pt-BR" b="0" i="0" dirty="0">
                <a:solidFill>
                  <a:srgbClr val="0D0D0D"/>
                </a:solidFill>
                <a:latin typeface="Arial"/>
                <a:ea typeface="Arial"/>
                <a:cs typeface="Arial"/>
                <a:sym typeface="Arial"/>
              </a:rPr>
              <a:t> are </a:t>
            </a:r>
            <a:r>
              <a:rPr lang="pt-BR" b="0" i="0" dirty="0" err="1">
                <a:solidFill>
                  <a:srgbClr val="0D0D0D"/>
                </a:solidFill>
                <a:latin typeface="Arial"/>
                <a:ea typeface="Arial"/>
                <a:cs typeface="Arial"/>
                <a:sym typeface="Arial"/>
              </a:rPr>
              <a:t>at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forefront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discussions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among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professionals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enthusiasts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alike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These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conversations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underscore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importance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 </a:t>
            </a:r>
            <a:r>
              <a:rPr lang="pt-BR" b="0" i="0" dirty="0" err="1">
                <a:solidFill>
                  <a:srgbClr val="0D0D0D"/>
                </a:solidFill>
                <a:latin typeface="Arial"/>
                <a:ea typeface="Arial"/>
                <a:cs typeface="Arial"/>
                <a:sym typeface="Arial"/>
              </a:rPr>
              <a:t>human-centric</a:t>
            </a:r>
            <a:r>
              <a:rPr lang="pt-BR" b="0" i="0" dirty="0">
                <a:solidFill>
                  <a:srgbClr val="0D0D0D"/>
                </a:solidFill>
                <a:latin typeface="Arial"/>
                <a:ea typeface="Arial"/>
                <a:cs typeface="Arial"/>
                <a:sym typeface="Arial"/>
              </a:rPr>
              <a:t> approach </a:t>
            </a:r>
            <a:r>
              <a:rPr lang="pt-BR" b="0" i="0" dirty="0" err="1">
                <a:solidFill>
                  <a:srgbClr val="0D0D0D"/>
                </a:solidFill>
                <a:latin typeface="Arial"/>
                <a:ea typeface="Arial"/>
                <a:cs typeface="Arial"/>
                <a:sym typeface="Arial"/>
              </a:rPr>
              <a:t>to</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technology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ensuring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that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benefits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society</a:t>
            </a:r>
            <a:r>
              <a:rPr lang="pt-BR" b="0" i="0" dirty="0">
                <a:solidFill>
                  <a:srgbClr val="0D0D0D"/>
                </a:solidFill>
                <a:latin typeface="Arial"/>
                <a:ea typeface="Arial"/>
                <a:cs typeface="Arial"/>
                <a:sym typeface="Arial"/>
              </a:rPr>
              <a:t> as a </a:t>
            </a:r>
            <a:r>
              <a:rPr lang="pt-BR" b="0" i="0" dirty="0" err="1">
                <a:solidFill>
                  <a:srgbClr val="0D0D0D"/>
                </a:solidFill>
                <a:latin typeface="Arial"/>
                <a:ea typeface="Arial"/>
                <a:cs typeface="Arial"/>
                <a:sym typeface="Arial"/>
              </a:rPr>
              <a:t>whole</a:t>
            </a:r>
            <a:r>
              <a:rPr lang="pt-BR" b="0" i="0" dirty="0">
                <a:solidFill>
                  <a:srgbClr val="0D0D0D"/>
                </a:solidFill>
                <a:latin typeface="Arial"/>
                <a:ea typeface="Arial"/>
                <a:cs typeface="Arial"/>
                <a:sym typeface="Arial"/>
              </a:rPr>
              <a:t>.</a:t>
            </a:r>
            <a:endParaRPr dirty="0"/>
          </a:p>
          <a:p>
            <a:pPr marL="0" lvl="0" indent="0" algn="l" rtl="0">
              <a:lnSpc>
                <a:spcPct val="90000"/>
              </a:lnSpc>
              <a:spcBef>
                <a:spcPts val="1000"/>
              </a:spcBef>
              <a:spcAft>
                <a:spcPts val="0"/>
              </a:spcAft>
              <a:buClr>
                <a:srgbClr val="0D0D0D"/>
              </a:buClr>
              <a:buSzPct val="100000"/>
              <a:buNone/>
            </a:pPr>
            <a:r>
              <a:rPr lang="pt-BR" b="0" i="0" dirty="0">
                <a:solidFill>
                  <a:srgbClr val="0D0D0D"/>
                </a:solidFill>
                <a:latin typeface="Arial"/>
                <a:ea typeface="Arial"/>
                <a:cs typeface="Arial"/>
                <a:sym typeface="Arial"/>
              </a:rPr>
              <a:t>In </a:t>
            </a:r>
            <a:r>
              <a:rPr lang="pt-BR" b="0" i="0" dirty="0" err="1">
                <a:solidFill>
                  <a:srgbClr val="0D0D0D"/>
                </a:solidFill>
                <a:latin typeface="Arial"/>
                <a:ea typeface="Arial"/>
                <a:cs typeface="Arial"/>
                <a:sym typeface="Arial"/>
              </a:rPr>
              <a:t>conclusion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world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computing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is</a:t>
            </a:r>
            <a:r>
              <a:rPr lang="pt-BR" b="0" i="0" dirty="0">
                <a:solidFill>
                  <a:srgbClr val="0D0D0D"/>
                </a:solidFill>
                <a:latin typeface="Arial"/>
                <a:ea typeface="Arial"/>
                <a:cs typeface="Arial"/>
                <a:sym typeface="Arial"/>
              </a:rPr>
              <a:t> a </a:t>
            </a:r>
            <a:r>
              <a:rPr lang="pt-BR" b="0" i="0" dirty="0" err="1">
                <a:solidFill>
                  <a:srgbClr val="0D0D0D"/>
                </a:solidFill>
                <a:latin typeface="Arial"/>
                <a:ea typeface="Arial"/>
                <a:cs typeface="Arial"/>
                <a:sym typeface="Arial"/>
              </a:rPr>
              <a:t>testament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to</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human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creativity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technological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progress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It's</a:t>
            </a:r>
            <a:r>
              <a:rPr lang="pt-BR" b="0" i="0" dirty="0">
                <a:solidFill>
                  <a:srgbClr val="0D0D0D"/>
                </a:solidFill>
                <a:latin typeface="Arial"/>
                <a:ea typeface="Arial"/>
                <a:cs typeface="Arial"/>
                <a:sym typeface="Arial"/>
              </a:rPr>
              <a:t> a </a:t>
            </a:r>
            <a:r>
              <a:rPr lang="pt-BR" b="0" i="0" dirty="0" err="1">
                <a:solidFill>
                  <a:srgbClr val="0D0D0D"/>
                </a:solidFill>
                <a:latin typeface="Arial"/>
                <a:ea typeface="Arial"/>
                <a:cs typeface="Arial"/>
                <a:sym typeface="Arial"/>
              </a:rPr>
              <a:t>field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that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not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only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transforms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how</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we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interact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with</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world </a:t>
            </a:r>
            <a:r>
              <a:rPr lang="pt-BR" b="0" i="0" dirty="0" err="1">
                <a:solidFill>
                  <a:srgbClr val="0D0D0D"/>
                </a:solidFill>
                <a:latin typeface="Arial"/>
                <a:ea typeface="Arial"/>
                <a:cs typeface="Arial"/>
                <a:sym typeface="Arial"/>
              </a:rPr>
              <a:t>around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us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but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also</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highlights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importance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continuous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learning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ethical</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responsibility</a:t>
            </a:r>
            <a:r>
              <a:rPr lang="pt-BR" b="0" i="0" dirty="0">
                <a:solidFill>
                  <a:srgbClr val="0D0D0D"/>
                </a:solidFill>
                <a:latin typeface="Arial"/>
                <a:ea typeface="Arial"/>
                <a:cs typeface="Arial"/>
                <a:sym typeface="Arial"/>
              </a:rPr>
              <a:t>. As </a:t>
            </a:r>
            <a:r>
              <a:rPr lang="pt-BR" b="0" i="0" dirty="0" err="1">
                <a:solidFill>
                  <a:srgbClr val="0D0D0D"/>
                </a:solidFill>
                <a:latin typeface="Arial"/>
                <a:ea typeface="Arial"/>
                <a:cs typeface="Arial"/>
                <a:sym typeface="Arial"/>
              </a:rPr>
              <a:t>we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navigate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this</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ever-evolving</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landscape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the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interplay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between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technology</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language</a:t>
            </a:r>
            <a:r>
              <a:rPr lang="pt-BR" b="0" i="0" dirty="0">
                <a:solidFill>
                  <a:srgbClr val="0D0D0D"/>
                </a:solidFill>
                <a:latin typeface="Arial"/>
                <a:ea typeface="Arial"/>
                <a:cs typeface="Arial"/>
                <a:sym typeface="Arial"/>
              </a:rPr>
              <a:t>—</a:t>
            </a:r>
            <a:r>
              <a:rPr lang="pt-BR" b="0" i="0" dirty="0" err="1">
                <a:solidFill>
                  <a:srgbClr val="0D0D0D"/>
                </a:solidFill>
                <a:latin typeface="Arial"/>
                <a:ea typeface="Arial"/>
                <a:cs typeface="Arial"/>
                <a:sym typeface="Arial"/>
              </a:rPr>
              <a:t>between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code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communication—</a:t>
            </a:r>
            <a:r>
              <a:rPr lang="pt-BR" b="0" i="0" dirty="0" err="1">
                <a:solidFill>
                  <a:srgbClr val="0D0D0D"/>
                </a:solidFill>
                <a:latin typeface="Arial"/>
                <a:ea typeface="Arial"/>
                <a:cs typeface="Arial"/>
                <a:sym typeface="Arial"/>
              </a:rPr>
              <a:t>remains</a:t>
            </a:r>
            <a:r>
              <a:rPr lang="pt-BR" b="0" i="0" dirty="0">
                <a:solidFill>
                  <a:srgbClr val="0D0D0D"/>
                </a:solidFill>
                <a:latin typeface="Arial"/>
                <a:ea typeface="Arial"/>
                <a:cs typeface="Arial"/>
                <a:sym typeface="Arial"/>
              </a:rPr>
              <a:t> a </a:t>
            </a:r>
            <a:r>
              <a:rPr lang="pt-BR" b="0" i="0" dirty="0" err="1">
                <a:solidFill>
                  <a:srgbClr val="0D0D0D"/>
                </a:solidFill>
                <a:latin typeface="Arial"/>
                <a:ea typeface="Arial"/>
                <a:cs typeface="Arial"/>
                <a:sym typeface="Arial"/>
              </a:rPr>
              <a:t>constant</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source</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of</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innovation</a:t>
            </a:r>
            <a:r>
              <a:rPr lang="pt-BR" b="0" i="0" dirty="0">
                <a:solidFill>
                  <a:srgbClr val="0D0D0D"/>
                </a:solidFill>
                <a:latin typeface="Arial"/>
                <a:ea typeface="Arial"/>
                <a:cs typeface="Arial"/>
                <a:sym typeface="Arial"/>
              </a:rPr>
              <a:t> </a:t>
            </a:r>
            <a:r>
              <a:rPr lang="pt-BR" b="0" i="0" dirty="0" err="1">
                <a:solidFill>
                  <a:srgbClr val="0D0D0D"/>
                </a:solidFill>
                <a:latin typeface="Arial"/>
                <a:ea typeface="Arial"/>
                <a:cs typeface="Arial"/>
                <a:sym typeface="Arial"/>
              </a:rPr>
              <a:t>and</a:t>
            </a:r>
            <a:r>
              <a:rPr lang="pt-BR" b="0" i="0" dirty="0">
                <a:solidFill>
                  <a:srgbClr val="0D0D0D"/>
                </a:solidFill>
                <a:latin typeface="Arial"/>
                <a:ea typeface="Arial"/>
                <a:cs typeface="Arial"/>
                <a:sym typeface="Arial"/>
              </a:rPr>
              <a:t> intrigue.</a:t>
            </a:r>
            <a:endParaRPr dirty="0"/>
          </a:p>
          <a:p>
            <a:pPr marL="228600" lvl="0" indent="-77470"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04D36-9D72-40A7-AD8B-4752BD164129}"/>
              </a:ext>
            </a:extLst>
          </p:cNvPr>
          <p:cNvSpPr>
            <a:spLocks noGrp="1"/>
          </p:cNvSpPr>
          <p:nvPr>
            <p:ph type="title"/>
          </p:nvPr>
        </p:nvSpPr>
        <p:spPr/>
        <p:txBody>
          <a:bodyPr>
            <a:normAutofit/>
          </a:bodyPr>
          <a:lstStyle/>
          <a:p>
            <a:r>
              <a:rPr lang="pt-BR" dirty="0"/>
              <a:t>Coloquem duas listas uma com cognatos e outra com falso cognatos em  Atividade 2 </a:t>
            </a:r>
          </a:p>
        </p:txBody>
      </p:sp>
      <p:sp>
        <p:nvSpPr>
          <p:cNvPr id="3" name="Espaço Reservado para Texto 2">
            <a:extLst>
              <a:ext uri="{FF2B5EF4-FFF2-40B4-BE49-F238E27FC236}">
                <a16:creationId xmlns:a16="http://schemas.microsoft.com/office/drawing/2014/main" id="{7CE2D535-4EC4-4C83-81BE-3C8CA0AE26EB}"/>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861673798"/>
      </p:ext>
    </p:extLst>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982</Words>
  <Application>Microsoft Office PowerPoint</Application>
  <PresentationFormat>Widescreen</PresentationFormat>
  <Paragraphs>41</Paragraphs>
  <Slides>11</Slides>
  <Notes>10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11</vt:i4>
      </vt:variant>
    </vt:vector>
  </HeadingPairs>
  <TitlesOfParts>
    <vt:vector size="15" baseType="lpstr">
      <vt:lpstr>Calibri</vt:lpstr>
      <vt:lpstr>Raleway</vt:lpstr>
      <vt:lpstr>Arial</vt:lpstr>
      <vt:lpstr>Tema do Office</vt:lpstr>
      <vt:lpstr>Aula 4 – Cognatos e Falsos Cognatos</vt:lpstr>
      <vt:lpstr>COGNATOS</vt:lpstr>
      <vt:lpstr>FALSOS COGNATOS</vt:lpstr>
      <vt:lpstr>Atividade 1 – em grupo</vt:lpstr>
      <vt:lpstr>Tentem inferir como foi o dia deste executivo</vt:lpstr>
      <vt:lpstr>Discussão em sala</vt:lpstr>
      <vt:lpstr>Individualmente - Traduzam todas as palavras que estão em negrito.</vt:lpstr>
      <vt:lpstr>Nova leitura – Identifique cognatos e falsos cognatos</vt:lpstr>
      <vt:lpstr>Apresentação do PowerPoint</vt:lpstr>
      <vt:lpstr>Apresentação do PowerPoint</vt:lpstr>
      <vt:lpstr>Coloquem duas listas uma com cognatos e outra com falso cognatos em  Atividade 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3 – Cognatos e Falsos Cognatos</dc:title>
  <dc:creator>marcela cortes</dc:creator>
  <cp:lastModifiedBy>marcela cortes</cp:lastModifiedBy>
  <cp:revision>2</cp:revision>
  <dcterms:modified xsi:type="dcterms:W3CDTF">2025-03-07T18:19:08Z</dcterms:modified>
</cp:coreProperties>
</file>