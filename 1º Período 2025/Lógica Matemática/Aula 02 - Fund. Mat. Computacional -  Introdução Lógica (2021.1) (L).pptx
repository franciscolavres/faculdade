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68"/>
  </p:notesMasterIdLst>
  <p:sldIdLst>
    <p:sldId id="266" r:id="rId3"/>
    <p:sldId id="267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278" r:id="rId12"/>
    <p:sldId id="279" r:id="rId13"/>
    <p:sldId id="280" r:id="rId14"/>
    <p:sldId id="321" r:id="rId15"/>
    <p:sldId id="323" r:id="rId16"/>
    <p:sldId id="324" r:id="rId17"/>
    <p:sldId id="325" r:id="rId18"/>
    <p:sldId id="326" r:id="rId19"/>
    <p:sldId id="322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8" r:id="rId29"/>
    <p:sldId id="341" r:id="rId30"/>
    <p:sldId id="339" r:id="rId31"/>
    <p:sldId id="340" r:id="rId32"/>
    <p:sldId id="342" r:id="rId33"/>
    <p:sldId id="343" r:id="rId34"/>
    <p:sldId id="336" r:id="rId35"/>
    <p:sldId id="335" r:id="rId36"/>
    <p:sldId id="337" r:id="rId37"/>
    <p:sldId id="271" r:id="rId38"/>
    <p:sldId id="281" r:id="rId39"/>
    <p:sldId id="305" r:id="rId40"/>
    <p:sldId id="306" r:id="rId41"/>
    <p:sldId id="307" r:id="rId42"/>
    <p:sldId id="308" r:id="rId43"/>
    <p:sldId id="269" r:id="rId44"/>
    <p:sldId id="309" r:id="rId45"/>
    <p:sldId id="310" r:id="rId46"/>
    <p:sldId id="311" r:id="rId47"/>
    <p:sldId id="312" r:id="rId48"/>
    <p:sldId id="313" r:id="rId49"/>
    <p:sldId id="282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268" r:id="rId66"/>
    <p:sldId id="265" r:id="rId6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9"/>
      <p:bold r:id="rId70"/>
      <p:italic r:id="rId71"/>
      <p:boldItalic r:id="rId72"/>
    </p:embeddedFont>
    <p:embeddedFont>
      <p:font typeface="Cambria Math" panose="02040503050406030204" pitchFamily="18" charset="0"/>
      <p:regular r:id="rId73"/>
    </p:embeddedFont>
    <p:embeddedFont>
      <p:font typeface="Roboto Black" panose="02000000000000000000" pitchFamily="2" charset="0"/>
      <p:bold r:id="rId74"/>
      <p:boldItalic r:id="rId75"/>
    </p:embeddedFont>
    <p:embeddedFont>
      <p:font typeface="Roboto Light" panose="02000000000000000000" pitchFamily="2" charset="0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4.fntdata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8.fntdata"/><Relationship Id="rId7" Type="http://schemas.openxmlformats.org/officeDocument/2006/relationships/slide" Target="slides/slide5.xml"/><Relationship Id="rId71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5945d5d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5945d5d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290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90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038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0430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4063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0754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128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4242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6139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7500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9260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2344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9144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7774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0402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9632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9242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7998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2675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603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5452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0270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6156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5738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633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9395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6043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5484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5323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52913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55979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44612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17943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8547c5afe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8547c5afe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8068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572d3c93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1572d3c93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58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5418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4943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5291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0780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3544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366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0997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40965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06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1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80154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78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311708" y="5231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4800" b="1" dirty="0">
                <a:solidFill>
                  <a:srgbClr val="FFFFFF"/>
                </a:solidFill>
                <a:ea typeface="Roboto Black"/>
              </a:rPr>
              <a:t>LÓGICA MATEMÁTICA</a:t>
            </a:r>
            <a:endParaRPr kumimoji="0" sz="4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311708" y="32631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  <a:sym typeface="Roboto Light"/>
              </a:rPr>
              <a:t>PROF. CARLOS GUSTAVO PEREIRA MORAES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04428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7">
            <a:extLst>
              <a:ext uri="{FF2B5EF4-FFF2-40B4-BE49-F238E27FC236}">
                <a16:creationId xmlns:a16="http://schemas.microsoft.com/office/drawing/2014/main" id="{8A890B93-E91E-C897-6A63-2F5F3F166D1B}"/>
              </a:ext>
            </a:extLst>
          </p:cNvPr>
          <p:cNvSpPr txBox="1"/>
          <p:nvPr/>
        </p:nvSpPr>
        <p:spPr>
          <a:xfrm>
            <a:off x="98502" y="299987"/>
            <a:ext cx="531464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800" b="1" dirty="0">
                <a:sym typeface="Calibri"/>
              </a:rPr>
              <a:t>CÁLCULO PROPOSICIONAL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BECBB5-A346-FEC5-245F-2D69A8A40802}"/>
              </a:ext>
            </a:extLst>
          </p:cNvPr>
          <p:cNvSpPr txBox="1"/>
          <p:nvPr/>
        </p:nvSpPr>
        <p:spPr>
          <a:xfrm>
            <a:off x="98500" y="1012953"/>
            <a:ext cx="89469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/>
              <a:t>O </a:t>
            </a:r>
            <a:r>
              <a:rPr lang="pt-BR" sz="1800" b="1" dirty="0"/>
              <a:t>Cálculo Proposicional</a:t>
            </a:r>
            <a:r>
              <a:rPr lang="pt-BR" sz="1800" dirty="0"/>
              <a:t> é a parte da </a:t>
            </a:r>
            <a:r>
              <a:rPr lang="pt-BR" sz="1800" b="1" dirty="0"/>
              <a:t>Lógica Matemática</a:t>
            </a:r>
            <a:r>
              <a:rPr lang="pt-BR" sz="1800" dirty="0"/>
              <a:t> que estuda a validade de argumentos apresentados em uma linguagem própria, a linguagem proposicional. Nessa linguagem é possível distinguir dois aspectos: o sintático e o semântico. O sintático estabelece símbolos, regras de formação e regras de dedução de validade. O aspecto semântico consiste na valoração das fórmulas com atribuição da propriedade de verdadeiro ou falso.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48096B-199B-5281-B01D-9BE20D2E53F8}"/>
              </a:ext>
            </a:extLst>
          </p:cNvPr>
          <p:cNvSpPr txBox="1"/>
          <p:nvPr/>
        </p:nvSpPr>
        <p:spPr>
          <a:xfrm>
            <a:off x="98501" y="2995497"/>
            <a:ext cx="89469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/>
              <a:t>O </a:t>
            </a:r>
            <a:r>
              <a:rPr lang="pt-BR" sz="1800" b="1" dirty="0"/>
              <a:t>Cálculo Proposicional</a:t>
            </a:r>
            <a:r>
              <a:rPr lang="pt-BR" sz="1800" dirty="0"/>
              <a:t> trabalha com tabelas verdade, tautologias e métodos dedutivos que visam estabelecer a validade de argumentos. Constitui-se em um sistema formal no qual se pode operar com grande precisão e rigor algumas transformações e obter resultados bem definidos e de ampla aplicação em outras áreas da Ciência.</a:t>
            </a:r>
          </a:p>
        </p:txBody>
      </p:sp>
    </p:spTree>
    <p:extLst>
      <p:ext uri="{BB962C8B-B14F-4D97-AF65-F5344CB8AC3E}">
        <p14:creationId xmlns:p14="http://schemas.microsoft.com/office/powerpoint/2010/main" val="2486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51CEF0B-425E-0407-D078-A17A89F979DA}"/>
              </a:ext>
            </a:extLst>
          </p:cNvPr>
          <p:cNvSpPr txBox="1"/>
          <p:nvPr/>
        </p:nvSpPr>
        <p:spPr>
          <a:xfrm>
            <a:off x="107795" y="28796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PROPOSIÇÃO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976DAF-9D30-4112-1FD5-C57C9DC33148}"/>
              </a:ext>
            </a:extLst>
          </p:cNvPr>
          <p:cNvSpPr txBox="1"/>
          <p:nvPr/>
        </p:nvSpPr>
        <p:spPr>
          <a:xfrm>
            <a:off x="202580" y="847358"/>
            <a:ext cx="87388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/>
              <a:t>Considera-se uma </a:t>
            </a:r>
            <a:r>
              <a:rPr lang="pt-BR" sz="1800" b="1" dirty="0"/>
              <a:t>proposição</a:t>
            </a:r>
            <a:r>
              <a:rPr lang="pt-BR" sz="1800" dirty="0"/>
              <a:t>, ou um enunciado, qualquer sentença declarativa que assume um dos dois valores-verdade: verdade e falsidade; ou seja, uma proposição é uma sentença declarativa que pode ser verdadeira (V) ou falsa (F). Essa propriedade da proposição é usualmente denominada valor-verdade.</a:t>
            </a: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437BE651-01AE-3A13-7970-9FE72C553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775684"/>
              </p:ext>
            </p:extLst>
          </p:nvPr>
        </p:nvGraphicFramePr>
        <p:xfrm>
          <a:off x="862361" y="2338181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302319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Exemplos de sentenças declarativas: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98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a) O número 12 é primo. (é uma proposição falsa (F).)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32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b) A capital de Sergipe é Aracaju. ( é uma proposição verdadeira (V).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116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c) Luiz é professor e atleta. ( é uma proposição verdadeira (V).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674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776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52FA09C1-AE82-C9CF-851B-2DC5C939C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163101"/>
              </p:ext>
            </p:extLst>
          </p:nvPr>
        </p:nvGraphicFramePr>
        <p:xfrm>
          <a:off x="564995" y="1156784"/>
          <a:ext cx="79099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9932">
                  <a:extLst>
                    <a:ext uri="{9D8B030D-6E8A-4147-A177-3AD203B41FA5}">
                      <a16:colId xmlns:a16="http://schemas.microsoft.com/office/drawing/2014/main" val="4156766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Exemplos de sentenças não declarativas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51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a) Venha aqui! (Sentença imperativa)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6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b) Não corra tão rápido!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83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c) Qual dia é amanhã?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75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Essas sentenças não são proposições, pois é impossível estabelecer um valor verdade para elas.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89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96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1ED62F3-C0E1-E365-FCCB-D9AFDC8C3184}"/>
              </a:ext>
            </a:extLst>
          </p:cNvPr>
          <p:cNvSpPr txBox="1"/>
          <p:nvPr/>
        </p:nvSpPr>
        <p:spPr>
          <a:xfrm>
            <a:off x="137531" y="415336"/>
            <a:ext cx="88652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/>
              <a:t>Nos exemplos anteriores, as </a:t>
            </a:r>
            <a:r>
              <a:rPr lang="pt-BR" sz="1800" b="1" dirty="0"/>
              <a:t>proposições</a:t>
            </a:r>
            <a:r>
              <a:rPr lang="pt-BR" sz="1800" dirty="0"/>
              <a:t> tratam os assuntos como </a:t>
            </a:r>
            <a:r>
              <a:rPr lang="pt-BR" sz="1800" b="1" dirty="0"/>
              <a:t>matemática, geografia.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O </a:t>
            </a:r>
            <a:r>
              <a:rPr lang="pt-BR" sz="1800" b="1" dirty="0"/>
              <a:t>Cálculo Proposicional</a:t>
            </a:r>
            <a:r>
              <a:rPr lang="pt-BR" sz="1800" dirty="0"/>
              <a:t> analisa a relação entre as proposições, considerando a forma que essa relação assume e não especificamente o seu conteúdo, ou seu significado.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As proposições podem ser substituídas por letras maiúsculas do alfabeto latino: A, B, ... , Z.</a:t>
            </a:r>
          </a:p>
        </p:txBody>
      </p:sp>
    </p:spTree>
    <p:extLst>
      <p:ext uri="{BB962C8B-B14F-4D97-AF65-F5344CB8AC3E}">
        <p14:creationId xmlns:p14="http://schemas.microsoft.com/office/powerpoint/2010/main" val="734830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E78A9566-52E0-2827-3B56-ABD0B809C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485057"/>
              </p:ext>
            </p:extLst>
          </p:nvPr>
        </p:nvGraphicFramePr>
        <p:xfrm>
          <a:off x="250372" y="356870"/>
          <a:ext cx="74501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182">
                  <a:extLst>
                    <a:ext uri="{9D8B030D-6E8A-4147-A177-3AD203B41FA5}">
                      <a16:colId xmlns:a16="http://schemas.microsoft.com/office/drawing/2014/main" val="2983626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Os suíços fabricam os melhores relógios e os franceses, o melhor vinho.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83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 = Os suíços fabricam os melhores relógios.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5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 = Os franceses fabricam o melhor vinho.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71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47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Teremos: R e S, a tradução simbólica da proposição.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470426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B7636D0-388B-072C-8072-B10248E4F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50862"/>
              </p:ext>
            </p:extLst>
          </p:nvPr>
        </p:nvGraphicFramePr>
        <p:xfrm>
          <a:off x="250372" y="2571750"/>
          <a:ext cx="74501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182">
                  <a:extLst>
                    <a:ext uri="{9D8B030D-6E8A-4147-A177-3AD203B41FA5}">
                      <a16:colId xmlns:a16="http://schemas.microsoft.com/office/drawing/2014/main" val="2983626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Se prestar atenção na aula, então terei boa nota na prova.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83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 = Eu prestar atenção na aula.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5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 = Eu tirarei boa nota na prova.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71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47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Teremos:  Se A então S, a tradução simbólica da proposição.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47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74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935F075-3A43-FAEA-820E-840A1E390B69}"/>
              </a:ext>
            </a:extLst>
          </p:cNvPr>
          <p:cNvSpPr txBox="1"/>
          <p:nvPr/>
        </p:nvSpPr>
        <p:spPr>
          <a:xfrm>
            <a:off x="219307" y="373936"/>
            <a:ext cx="6240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PRINCÍPIOS DA LÓGICA CLÁSSICA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31DC98-43AC-097F-BB53-332A4895ABAB}"/>
              </a:ext>
            </a:extLst>
          </p:cNvPr>
          <p:cNvSpPr txBox="1"/>
          <p:nvPr/>
        </p:nvSpPr>
        <p:spPr>
          <a:xfrm>
            <a:off x="375424" y="969301"/>
            <a:ext cx="83931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/>
              <a:t>A </a:t>
            </a:r>
            <a:r>
              <a:rPr lang="pt-BR" sz="2400" b="1"/>
              <a:t>Lógica Matemática</a:t>
            </a:r>
            <a:r>
              <a:rPr lang="pt-BR" sz="2400"/>
              <a:t> na sua versão clássica assume como regras fundamentais do pensamento válido três princípios básicos.</a:t>
            </a:r>
          </a:p>
          <a:p>
            <a:endParaRPr lang="pt-BR" sz="2400"/>
          </a:p>
          <a:p>
            <a:endParaRPr lang="pt-BR" sz="2400"/>
          </a:p>
          <a:p>
            <a:pPr marL="457200" indent="-457200">
              <a:buAutoNum type="arabicPeriod"/>
            </a:pPr>
            <a:r>
              <a:rPr lang="pt-BR" sz="2400"/>
              <a:t>Princípio da Identidade:</a:t>
            </a:r>
          </a:p>
          <a:p>
            <a:pPr marL="457200" indent="-457200">
              <a:buAutoNum type="arabicPeriod"/>
            </a:pPr>
            <a:r>
              <a:rPr lang="pt-BR" sz="2400"/>
              <a:t>Princípio da Não Contradição</a:t>
            </a:r>
          </a:p>
          <a:p>
            <a:pPr marL="457200" indent="-457200">
              <a:buAutoNum type="arabicPeriod"/>
            </a:pPr>
            <a:r>
              <a:rPr lang="pt-BR" sz="2400"/>
              <a:t>Princípio do Terceiro Excluído</a:t>
            </a:r>
          </a:p>
          <a:p>
            <a:pPr marL="457200" indent="-457200">
              <a:buAutoNum type="arabicPeriod"/>
            </a:pP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51204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17F311-8B2B-2828-ED0E-CD440B54FDE4}"/>
              </a:ext>
            </a:extLst>
          </p:cNvPr>
          <p:cNvSpPr txBox="1"/>
          <p:nvPr/>
        </p:nvSpPr>
        <p:spPr>
          <a:xfrm>
            <a:off x="159524" y="516335"/>
            <a:ext cx="83931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PRINCÍPIO DA IDENTIDADE:</a:t>
            </a:r>
          </a:p>
          <a:p>
            <a:pPr lvl="3"/>
            <a:endParaRPr lang="pt-BR" sz="2000" dirty="0"/>
          </a:p>
          <a:p>
            <a:pPr lvl="3"/>
            <a:r>
              <a:rPr lang="pt-BR" sz="2000" dirty="0"/>
              <a:t>	Toda proposição é idêntica a si mesma.</a:t>
            </a:r>
          </a:p>
          <a:p>
            <a:endParaRPr lang="pt-BR" sz="2000" b="1" dirty="0"/>
          </a:p>
          <a:p>
            <a:r>
              <a:rPr lang="pt-BR" sz="2000" b="1" dirty="0"/>
              <a:t>PRINCÍPIO DA NÃO CONTRADIÇÃO:</a:t>
            </a:r>
          </a:p>
          <a:p>
            <a:endParaRPr lang="pt-BR" sz="2000" dirty="0"/>
          </a:p>
          <a:p>
            <a:r>
              <a:rPr lang="pt-BR" sz="2000" dirty="0"/>
              <a:t>	Uma proposição não pode ser verdadeira e  falsa ao mesmo tempo.</a:t>
            </a:r>
          </a:p>
          <a:p>
            <a:endParaRPr lang="pt-BR" sz="2000" dirty="0"/>
          </a:p>
          <a:p>
            <a:r>
              <a:rPr lang="pt-BR" sz="2000" b="1" dirty="0"/>
              <a:t>PRINCÍPIO DO TERCEIRO EXCLUÍDO:</a:t>
            </a:r>
          </a:p>
          <a:p>
            <a:r>
              <a:rPr lang="pt-BR" sz="2000" dirty="0"/>
              <a:t>	</a:t>
            </a:r>
          </a:p>
          <a:p>
            <a:r>
              <a:rPr lang="pt-BR" sz="2000" dirty="0"/>
              <a:t>	Toda proposição ou é verdadeira ou é falsa, não existindo um terceiro valor que ela possa assumir. </a:t>
            </a:r>
          </a:p>
          <a:p>
            <a:pPr marL="457200" indent="-457200">
              <a:buAutoNum type="arabicPeriod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8487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206140" y="335919"/>
            <a:ext cx="284521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Proposição Simples</a:t>
            </a:r>
            <a:endParaRPr sz="2653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206140" y="1061967"/>
            <a:ext cx="8556860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</a:p>
          <a:p>
            <a:pPr algn="just">
              <a:lnSpc>
                <a:spcPct val="120000"/>
              </a:lnSpc>
            </a:pPr>
            <a:endParaRPr lang="pt-BR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as proposições que não contém outra proposição como parte integrante de si mesmas. São representadas por letras minúsculas (p, q, r). Denominadas letras proposicionais.</a:t>
            </a:r>
          </a:p>
          <a:p>
            <a:pPr algn="just">
              <a:lnSpc>
                <a:spcPct val="120000"/>
              </a:lnSpc>
            </a:pPr>
            <a:endParaRPr lang="pt-BR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r>
              <a:rPr lang="pt-BR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</a:t>
            </a:r>
            <a:endParaRPr lang="pt-BR"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 O número 5 é par.</a:t>
            </a:r>
          </a:p>
          <a:p>
            <a:pPr algn="just">
              <a:lnSpc>
                <a:spcPct val="120000"/>
              </a:lnSpc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Todo quadrado é um retângulo.</a:t>
            </a:r>
            <a:endParaRPr lang="pt-BR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98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55340" y="361319"/>
            <a:ext cx="554696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Proposição Composta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8"/>
              <p:cNvSpPr txBox="1"/>
              <p:nvPr/>
            </p:nvSpPr>
            <p:spPr>
              <a:xfrm>
                <a:off x="419100" y="1074667"/>
                <a:ext cx="8470900" cy="2500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688" tIns="33844" rIns="67688" bIns="33844" anchor="t" anchorCtr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t-BR" sz="20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Definição:</a:t>
                </a:r>
              </a:p>
              <a:p>
                <a:pPr>
                  <a:lnSpc>
                    <a:spcPct val="120000"/>
                  </a:lnSpc>
                </a:pPr>
                <a:endParaRPr lang="pt-BR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pt-BR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São as proposições formadas por duas ou mais proposições simples. As proposições compostas geralmente são representadas por letras maiúsculas.</a:t>
                </a:r>
              </a:p>
              <a:p>
                <a:pPr>
                  <a:lnSpc>
                    <a:spcPct val="120000"/>
                  </a:lnSpc>
                </a:pPr>
                <a:endParaRPr lang="pt-BR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pt-BR" sz="20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Exemplo:</a:t>
                </a:r>
                <a:endParaRPr lang="pt-BR" sz="28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pt-BR" sz="2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P: Luiz é médico </a:t>
                </a:r>
                <a:r>
                  <a:rPr lang="pt-BR" sz="28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pt-BR" sz="2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Pedro é estudante.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pt-BR" sz="2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 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sz="2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radPr>
                      <m:deg/>
                      <m:e>
                        <m:r>
                          <a:rPr lang="pt-BR" sz="2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2</m:t>
                        </m:r>
                      </m:e>
                    </m:rad>
                    <m:r>
                      <a:rPr lang="pt-BR" sz="2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r>
                  <a:rPr lang="pt-BR" sz="2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é irracional, </a:t>
                </a:r>
                <a:r>
                  <a:rPr lang="pt-BR" sz="28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então</a:t>
                </a:r>
                <a:r>
                  <a:rPr lang="pt-BR" sz="2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5</m:t>
                    </m:r>
                    <m:rad>
                      <m:radPr>
                        <m:degHide m:val="on"/>
                        <m:ctrlPr>
                          <a:rPr lang="pt-BR" sz="2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radPr>
                      <m:deg/>
                      <m:e>
                        <m:r>
                          <a:rPr lang="pt-BR" sz="2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2</m:t>
                        </m:r>
                      </m:e>
                    </m:rad>
                  </m:oMath>
                </a14:m>
                <a:r>
                  <a:rPr lang="pt-BR" sz="2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é irracional.</a:t>
                </a:r>
              </a:p>
            </p:txBody>
          </p:sp>
        </mc:Choice>
        <mc:Fallback xmlns="">
          <p:sp>
            <p:nvSpPr>
              <p:cNvPr id="119" name="Google Shape;119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1074667"/>
                <a:ext cx="8470900" cy="2500685"/>
              </a:xfrm>
              <a:prstGeom prst="rect">
                <a:avLst/>
              </a:prstGeom>
              <a:blipFill>
                <a:blip r:embed="rId3"/>
                <a:stretch>
                  <a:fillRect l="-1800" t="-243" b="-386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900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68040" y="297819"/>
            <a:ext cx="440396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Conectivos Lógicos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55600" y="1074667"/>
            <a:ext cx="8470900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linguagem comum, usam-se palavras explicitas ou não para interligar frases dotadas de algum sentido. Tais palavras são substituídas, na Lógica Matemática, por símbolos denominados conectivos lógicos.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nosso estudo, nos restringiremos inicialmente ao chamado cálculo proposicional; por essa razão, os conectivos utilizados são conhecidos por sentenciais ou proposicionais.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Trabalharemos com cinco conectivos que substituirão simbolicamente as expressões:</a:t>
            </a: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(^)</a:t>
            </a: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(v)</a:t>
            </a: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pt-BR" sz="15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ENTÃO (→)</a:t>
            </a:r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 SOMENTE SE (↔)</a:t>
            </a:r>
          </a:p>
        </p:txBody>
      </p:sp>
    </p:spTree>
    <p:extLst>
      <p:ext uri="{BB962C8B-B14F-4D97-AF65-F5344CB8AC3E}">
        <p14:creationId xmlns:p14="http://schemas.microsoft.com/office/powerpoint/2010/main" val="874270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534BB96-EE35-30F6-9AE0-88118D0BD216}"/>
              </a:ext>
            </a:extLst>
          </p:cNvPr>
          <p:cNvSpPr txBox="1"/>
          <p:nvPr/>
        </p:nvSpPr>
        <p:spPr>
          <a:xfrm>
            <a:off x="292100" y="455940"/>
            <a:ext cx="812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Somos pobres mortais </a:t>
            </a:r>
            <a:r>
              <a:rPr lang="pt-BR" sz="2400" b="1" dirty="0"/>
              <a:t>e</a:t>
            </a:r>
            <a:r>
              <a:rPr lang="pt-BR" sz="2400" dirty="0"/>
              <a:t> fanáticos torcedores da vida. É uma proposição composta.</a:t>
            </a:r>
          </a:p>
          <a:p>
            <a:endParaRPr lang="pt-BR" sz="2400" dirty="0"/>
          </a:p>
          <a:p>
            <a:r>
              <a:rPr lang="pt-BR" sz="2400" dirty="0"/>
              <a:t>Somos pobres mortais é a primeira proposição, e somos fanáticos torcedores da vida, a segunda proposição sendo </a:t>
            </a:r>
            <a:r>
              <a:rPr lang="pt-BR" sz="2400" b="1" dirty="0"/>
              <a:t>e</a:t>
            </a:r>
            <a:r>
              <a:rPr lang="pt-BR" sz="2400" dirty="0"/>
              <a:t> a palavra de ligação.</a:t>
            </a:r>
          </a:p>
        </p:txBody>
      </p:sp>
    </p:spTree>
    <p:extLst>
      <p:ext uri="{BB962C8B-B14F-4D97-AF65-F5344CB8AC3E}">
        <p14:creationId xmlns:p14="http://schemas.microsoft.com/office/powerpoint/2010/main" val="142849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61E28AF-E615-F1F2-B4C0-B25C5ECE57ED}"/>
              </a:ext>
            </a:extLst>
          </p:cNvPr>
          <p:cNvSpPr txBox="1"/>
          <p:nvPr/>
        </p:nvSpPr>
        <p:spPr>
          <a:xfrm>
            <a:off x="228600" y="577324"/>
            <a:ext cx="8686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Os símbolos especiais da Lógica Matemática expõem com maior clareza as estruturas lógicas de proposições e argumentos, que muitas vezes, na linguagem comum, ficam obscurecidas.</a:t>
            </a:r>
          </a:p>
          <a:p>
            <a:pPr algn="just"/>
            <a:r>
              <a:rPr lang="pt-BR" sz="2000" dirty="0"/>
              <a:t>A Lógica Matemática trata da relação entre proposições, considerando a forma que essa relação assume e não o seu conteúdo. Em função disso, as proposições são representadas por letras maiúsculas do alfabeto latino. Cada letra maiúscula é usada para representar uma proposição bem definida (uma constante) e cada minúscula para representar uma proposição qualquer (uma variável).</a:t>
            </a:r>
          </a:p>
          <a:p>
            <a:pPr algn="just"/>
            <a:r>
              <a:rPr lang="pt-BR" sz="2000" dirty="0"/>
              <a:t>É importante assinalar que a Lógica Matemática é uma ciência não empírica, isto é, não depende de observações como nas ciências naturais. Portanto, tem afinidades com a Matemática e dela se aproxima.</a:t>
            </a:r>
          </a:p>
        </p:txBody>
      </p:sp>
    </p:spTree>
    <p:extLst>
      <p:ext uri="{BB962C8B-B14F-4D97-AF65-F5344CB8AC3E}">
        <p14:creationId xmlns:p14="http://schemas.microsoft.com/office/powerpoint/2010/main" val="4251866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9D974DB-9827-EDB1-92E1-87C442F13DF4}"/>
              </a:ext>
            </a:extLst>
          </p:cNvPr>
          <p:cNvSpPr txBox="1"/>
          <p:nvPr/>
        </p:nvSpPr>
        <p:spPr>
          <a:xfrm>
            <a:off x="190500" y="271562"/>
            <a:ext cx="8394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CLASSIFICAÇÃO DOS CONECTIVOS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0FFF1E-1ADB-DF6A-6FDB-0FA1ACE59D5F}"/>
              </a:ext>
            </a:extLst>
          </p:cNvPr>
          <p:cNvSpPr txBox="1"/>
          <p:nvPr/>
        </p:nvSpPr>
        <p:spPr>
          <a:xfrm>
            <a:off x="317500" y="894318"/>
            <a:ext cx="8661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Apresentaremos a seguir os conectivos que, com suas representações simbólicas, serão usados na tradução de proposições para a linguagem simbólica.</a:t>
            </a:r>
          </a:p>
        </p:txBody>
      </p:sp>
    </p:spTree>
    <p:extLst>
      <p:ext uri="{BB962C8B-B14F-4D97-AF65-F5344CB8AC3E}">
        <p14:creationId xmlns:p14="http://schemas.microsoft.com/office/powerpoint/2010/main" val="364689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F3B04AA-221B-DEE8-D0BB-9873806DCF41}"/>
              </a:ext>
            </a:extLst>
          </p:cNvPr>
          <p:cNvSpPr txBox="1"/>
          <p:nvPr/>
        </p:nvSpPr>
        <p:spPr>
          <a:xfrm>
            <a:off x="101600" y="30319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CONJUNÇÃO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0E59DA-AF0F-BF15-F90B-8E9D55FF8204}"/>
              </a:ext>
            </a:extLst>
          </p:cNvPr>
          <p:cNvSpPr txBox="1"/>
          <p:nvPr/>
        </p:nvSpPr>
        <p:spPr>
          <a:xfrm>
            <a:off x="285750" y="940534"/>
            <a:ext cx="8572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É o resultado da combinação de duas proposições ligadas pela palavra </a:t>
            </a:r>
            <a:r>
              <a:rPr lang="pt-BR" sz="2000" b="1" dirty="0"/>
              <a:t>e</a:t>
            </a:r>
            <a:r>
              <a:rPr lang="pt-BR" sz="2000" dirty="0"/>
              <a:t>, que será́ substituída pelo símbolo ∧. Cada proposição também será́ traduzida, utilizando-se a primeira letra de sua palavra-chave. A conjunção pode também ser expressa por palavras como: mas, todavia, contudo, no entanto, visto que, enquanto, além disso, embora.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11135A-6D6E-BB6C-35F7-7771379DC802}"/>
              </a:ext>
            </a:extLst>
          </p:cNvPr>
          <p:cNvSpPr txBox="1"/>
          <p:nvPr/>
        </p:nvSpPr>
        <p:spPr>
          <a:xfrm>
            <a:off x="571500" y="2722662"/>
            <a:ext cx="4597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Luiz foi ao cinema e Marta, ao teatro.</a:t>
            </a:r>
          </a:p>
          <a:p>
            <a:endParaRPr lang="pt-BR" sz="2000" dirty="0"/>
          </a:p>
          <a:p>
            <a:r>
              <a:rPr lang="pt-BR" sz="2000" dirty="0"/>
              <a:t>C = Luiz foi ao cinema</a:t>
            </a:r>
          </a:p>
          <a:p>
            <a:r>
              <a:rPr lang="pt-BR" sz="2000" dirty="0"/>
              <a:t>T =  Marta foi ao teatro</a:t>
            </a:r>
          </a:p>
          <a:p>
            <a:endParaRPr lang="pt-BR" sz="2000" dirty="0"/>
          </a:p>
          <a:p>
            <a:r>
              <a:rPr lang="pt-BR" sz="2000" dirty="0"/>
              <a:t>Simbolicamente, temos C ^ T</a:t>
            </a:r>
          </a:p>
        </p:txBody>
      </p:sp>
    </p:spTree>
    <p:extLst>
      <p:ext uri="{BB962C8B-B14F-4D97-AF65-F5344CB8AC3E}">
        <p14:creationId xmlns:p14="http://schemas.microsoft.com/office/powerpoint/2010/main" val="3664636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D37F47D-F246-90E0-0541-E4D16D83D6E7}"/>
              </a:ext>
            </a:extLst>
          </p:cNvPr>
          <p:cNvSpPr txBox="1"/>
          <p:nvPr/>
        </p:nvSpPr>
        <p:spPr>
          <a:xfrm>
            <a:off x="228600" y="31825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DISJUNÇÃO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7AC12F-76B6-F743-560D-BB01E0953D46}"/>
              </a:ext>
            </a:extLst>
          </p:cNvPr>
          <p:cNvSpPr txBox="1"/>
          <p:nvPr/>
        </p:nvSpPr>
        <p:spPr>
          <a:xfrm>
            <a:off x="114300" y="930790"/>
            <a:ext cx="8686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É o resultado da combinação de duas proposições ligadas pela palavra </a:t>
            </a:r>
            <a:r>
              <a:rPr lang="pt-BR" sz="2400" b="1" dirty="0"/>
              <a:t>ou</a:t>
            </a:r>
            <a:r>
              <a:rPr lang="pt-BR" sz="2400" dirty="0"/>
              <a:t>, que será́ substituída pelo símbolo ∨. Cada proposição também será́ traduzida, utilizando-se a primeira letra de sua palavra-chave.</a:t>
            </a:r>
          </a:p>
          <a:p>
            <a:pPr algn="just"/>
            <a:r>
              <a:rPr lang="pt-BR" sz="2400" dirty="0"/>
              <a:t>Na linguagem coloquial, a palavra </a:t>
            </a:r>
            <a:r>
              <a:rPr lang="pt-BR" sz="2400" b="1" dirty="0"/>
              <a:t>ou</a:t>
            </a:r>
            <a:r>
              <a:rPr lang="pt-BR" sz="2400" dirty="0"/>
              <a:t> pode ser empregada em dois sentidos, </a:t>
            </a:r>
            <a:r>
              <a:rPr lang="pt-BR" sz="2400" b="1" dirty="0"/>
              <a:t>inclusivo</a:t>
            </a:r>
            <a:r>
              <a:rPr lang="pt-BR" sz="2400" dirty="0"/>
              <a:t> ou </a:t>
            </a:r>
            <a:r>
              <a:rPr lang="pt-BR" sz="2400" b="1" dirty="0"/>
              <a:t>exclusivo.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FB305A4-2570-9271-9915-F7368D6122F6}"/>
              </a:ext>
            </a:extLst>
          </p:cNvPr>
          <p:cNvSpPr txBox="1"/>
          <p:nvPr/>
        </p:nvSpPr>
        <p:spPr>
          <a:xfrm>
            <a:off x="342900" y="32916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 Paulo é matemático </a:t>
            </a:r>
            <a:r>
              <a:rPr lang="pt-BR" sz="2400" b="1" dirty="0"/>
              <a:t>ou</a:t>
            </a:r>
            <a:r>
              <a:rPr lang="pt-BR" sz="2400" dirty="0"/>
              <a:t> físico.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0B37D90-60BF-5DFB-D49D-FF72D76CF1E1}"/>
              </a:ext>
            </a:extLst>
          </p:cNvPr>
          <p:cNvSpPr txBox="1"/>
          <p:nvPr/>
        </p:nvSpPr>
        <p:spPr>
          <a:xfrm>
            <a:off x="114300" y="3913941"/>
            <a:ext cx="868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Pode ocorrer de Paulo ser matemático e físico, trata- se do ou inclusivo.</a:t>
            </a:r>
          </a:p>
        </p:txBody>
      </p:sp>
    </p:spTree>
    <p:extLst>
      <p:ext uri="{BB962C8B-B14F-4D97-AF65-F5344CB8AC3E}">
        <p14:creationId xmlns:p14="http://schemas.microsoft.com/office/powerpoint/2010/main" val="2786031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27BDB73-D973-5C1B-CE6C-0F750E627AA8}"/>
              </a:ext>
            </a:extLst>
          </p:cNvPr>
          <p:cNvSpPr txBox="1"/>
          <p:nvPr/>
        </p:nvSpPr>
        <p:spPr>
          <a:xfrm>
            <a:off x="292100" y="36046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DISJUNÇÃO EXCLUSIVA</a:t>
            </a:r>
            <a:endParaRPr lang="pt-BR" sz="28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1AE841-BEC7-F27F-E76A-E9C27746444E}"/>
              </a:ext>
            </a:extLst>
          </p:cNvPr>
          <p:cNvSpPr txBox="1"/>
          <p:nvPr/>
        </p:nvSpPr>
        <p:spPr>
          <a:xfrm>
            <a:off x="635000" y="10970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João</a:t>
            </a:r>
            <a:r>
              <a:rPr lang="pt-BR" dirty="0"/>
              <a:t> é paulistano ou </a:t>
            </a:r>
            <a:r>
              <a:rPr lang="pt-BR" dirty="0" err="1"/>
              <a:t>gaúcho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030DC9-1DE6-CD29-9FFD-18FFFC66E718}"/>
              </a:ext>
            </a:extLst>
          </p:cNvPr>
          <p:cNvSpPr txBox="1"/>
          <p:nvPr/>
        </p:nvSpPr>
        <p:spPr>
          <a:xfrm>
            <a:off x="533400" y="1979940"/>
            <a:ext cx="8420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Não é possível que João seja paulistano e gaúcho ao mesmo tempo, trata-se do ou exclusivo.</a:t>
            </a:r>
          </a:p>
        </p:txBody>
      </p:sp>
    </p:spTree>
    <p:extLst>
      <p:ext uri="{BB962C8B-B14F-4D97-AF65-F5344CB8AC3E}">
        <p14:creationId xmlns:p14="http://schemas.microsoft.com/office/powerpoint/2010/main" val="253598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3BA1BB9-5F50-52F0-97B2-D945B370A131}"/>
              </a:ext>
            </a:extLst>
          </p:cNvPr>
          <p:cNvSpPr txBox="1"/>
          <p:nvPr/>
        </p:nvSpPr>
        <p:spPr>
          <a:xfrm>
            <a:off x="241300" y="39856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CONDICIONAL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1D344F-8C4D-0DC4-CF17-ADC76FBE02C0}"/>
              </a:ext>
            </a:extLst>
          </p:cNvPr>
          <p:cNvSpPr txBox="1"/>
          <p:nvPr/>
        </p:nvSpPr>
        <p:spPr>
          <a:xfrm>
            <a:off x="158750" y="1115308"/>
            <a:ext cx="8826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Duas proposições formam uma condicional quando for possível colocá-</a:t>
            </a:r>
            <a:r>
              <a:rPr lang="pt-BR" dirty="0" err="1"/>
              <a:t>las</a:t>
            </a:r>
            <a:r>
              <a:rPr lang="pt-BR" dirty="0"/>
              <a:t> na seguinte forma: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684C5F-A814-886B-6970-CC9F14CE59A9}"/>
              </a:ext>
            </a:extLst>
          </p:cNvPr>
          <p:cNvSpPr txBox="1"/>
          <p:nvPr/>
        </p:nvSpPr>
        <p:spPr>
          <a:xfrm>
            <a:off x="1574800" y="1613212"/>
            <a:ext cx="50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Se (</a:t>
            </a:r>
            <a:r>
              <a:rPr lang="pt-BR" sz="2000" b="1" dirty="0" err="1"/>
              <a:t>proposição</a:t>
            </a:r>
            <a:r>
              <a:rPr lang="pt-BR" sz="2000" b="1" dirty="0"/>
              <a:t> 1), </a:t>
            </a:r>
            <a:r>
              <a:rPr lang="pt-BR" sz="2000" b="1" dirty="0" err="1"/>
              <a:t>então</a:t>
            </a:r>
            <a:r>
              <a:rPr lang="pt-BR" sz="2000" b="1" dirty="0"/>
              <a:t> (</a:t>
            </a:r>
            <a:r>
              <a:rPr lang="pt-BR" sz="2000" b="1" dirty="0" err="1"/>
              <a:t>proposição</a:t>
            </a:r>
            <a:r>
              <a:rPr lang="pt-BR" sz="2000" b="1" dirty="0"/>
              <a:t> 2).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105E22-233F-2DA7-D46B-2934F99480A5}"/>
              </a:ext>
            </a:extLst>
          </p:cNvPr>
          <p:cNvSpPr txBox="1"/>
          <p:nvPr/>
        </p:nvSpPr>
        <p:spPr>
          <a:xfrm>
            <a:off x="234950" y="2070471"/>
            <a:ext cx="86741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proposição 1 é chamada de antecedente, e a proposição 2 de consequente;</a:t>
            </a:r>
          </a:p>
          <a:p>
            <a:endParaRPr lang="pt-BR" dirty="0"/>
          </a:p>
          <a:p>
            <a:r>
              <a:rPr lang="pt-BR" dirty="0"/>
              <a:t>o símbolo utilizado para ligar as duas proposições de uma condicional é  →; </a:t>
            </a:r>
          </a:p>
          <a:p>
            <a:endParaRPr lang="pt-BR" dirty="0"/>
          </a:p>
          <a:p>
            <a:r>
              <a:rPr lang="pt-BR" dirty="0"/>
              <a:t>as proposições condicionais podem ter sentidos diferentes em sua composição, veja os exemplos a seguir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29537B-47FB-8E44-F980-A05B24E0E42C}"/>
              </a:ext>
            </a:extLst>
          </p:cNvPr>
          <p:cNvSpPr txBox="1"/>
          <p:nvPr/>
        </p:nvSpPr>
        <p:spPr>
          <a:xfrm>
            <a:off x="1356732" y="38743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Luiz nasceu em Aracaju, </a:t>
            </a:r>
            <a:r>
              <a:rPr lang="pt-BR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então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Luiz é </a:t>
            </a: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ergipano.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2288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E47661D-F7F1-336B-03A2-7EECA0F90E34}"/>
              </a:ext>
            </a:extLst>
          </p:cNvPr>
          <p:cNvSpPr txBox="1"/>
          <p:nvPr/>
        </p:nvSpPr>
        <p:spPr>
          <a:xfrm>
            <a:off x="390293" y="463145"/>
            <a:ext cx="8307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Se</a:t>
            </a:r>
            <a:r>
              <a:rPr lang="pt-BR" sz="2800" dirty="0"/>
              <a:t> Alberto é poliglota, </a:t>
            </a:r>
            <a:r>
              <a:rPr lang="pt-BR" sz="2800" b="1" dirty="0"/>
              <a:t>então</a:t>
            </a:r>
            <a:r>
              <a:rPr lang="pt-BR" sz="2800" dirty="0"/>
              <a:t> fala várias línguas.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E75485-C66D-07E0-351B-C880FC7643A5}"/>
              </a:ext>
            </a:extLst>
          </p:cNvPr>
          <p:cNvSpPr txBox="1"/>
          <p:nvPr/>
        </p:nvSpPr>
        <p:spPr>
          <a:xfrm>
            <a:off x="1037063" y="1760477"/>
            <a:ext cx="64119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P = Alberto é poliglota.</a:t>
            </a:r>
          </a:p>
          <a:p>
            <a:r>
              <a:rPr lang="pt-BR" sz="2800" dirty="0"/>
              <a:t>L = (Alberto) fala </a:t>
            </a:r>
            <a:r>
              <a:rPr lang="pt-BR" sz="2800" dirty="0" err="1"/>
              <a:t>várias</a:t>
            </a:r>
            <a:r>
              <a:rPr lang="pt-BR" sz="2800" dirty="0"/>
              <a:t> </a:t>
            </a:r>
            <a:r>
              <a:rPr lang="pt-BR" sz="2800" dirty="0" err="1"/>
              <a:t>línguas</a:t>
            </a:r>
            <a:r>
              <a:rPr lang="pt-BR" sz="2800" dirty="0"/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DE2C69-AD7A-8BBE-9821-6248D01220C5}"/>
              </a:ext>
            </a:extLst>
          </p:cNvPr>
          <p:cNvSpPr txBox="1"/>
          <p:nvPr/>
        </p:nvSpPr>
        <p:spPr>
          <a:xfrm>
            <a:off x="1579755" y="3460080"/>
            <a:ext cx="5259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Simbolicamente, temos: P → L</a:t>
            </a:r>
          </a:p>
        </p:txBody>
      </p:sp>
    </p:spTree>
    <p:extLst>
      <p:ext uri="{BB962C8B-B14F-4D97-AF65-F5344CB8AC3E}">
        <p14:creationId xmlns:p14="http://schemas.microsoft.com/office/powerpoint/2010/main" val="3969875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6BEBC89-58E3-A335-CD51-A66E6ACDE5A2}"/>
              </a:ext>
            </a:extLst>
          </p:cNvPr>
          <p:cNvSpPr txBox="1"/>
          <p:nvPr/>
        </p:nvSpPr>
        <p:spPr>
          <a:xfrm>
            <a:off x="412595" y="411106"/>
            <a:ext cx="79062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Se</a:t>
            </a:r>
            <a:r>
              <a:rPr lang="pt-BR" dirty="0"/>
              <a:t> todos os homens são mortais </a:t>
            </a:r>
            <a:r>
              <a:rPr lang="pt-BR" b="1" dirty="0"/>
              <a:t>e</a:t>
            </a:r>
            <a:r>
              <a:rPr lang="pt-BR" dirty="0"/>
              <a:t> Luiz é um homem, </a:t>
            </a:r>
            <a:r>
              <a:rPr lang="pt-BR" b="1" dirty="0"/>
              <a:t>então</a:t>
            </a:r>
            <a:r>
              <a:rPr lang="pt-BR" dirty="0"/>
              <a:t> Luiz é mortal.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H = Todos os homens são mortais.</a:t>
            </a:r>
          </a:p>
          <a:p>
            <a:r>
              <a:rPr lang="pt-BR" dirty="0"/>
              <a:t>L = Luiz é um homem.</a:t>
            </a:r>
          </a:p>
          <a:p>
            <a:endParaRPr lang="pt-BR" dirty="0"/>
          </a:p>
          <a:p>
            <a:r>
              <a:rPr lang="pt-BR" dirty="0"/>
              <a:t>M = Luiz é mortal.</a:t>
            </a:r>
          </a:p>
          <a:p>
            <a:endParaRPr lang="pt-BR" dirty="0"/>
          </a:p>
          <a:p>
            <a:r>
              <a:rPr lang="pt-BR" dirty="0"/>
              <a:t>Simbolicamente temos:</a:t>
            </a:r>
          </a:p>
          <a:p>
            <a:endParaRPr lang="pt-BR" dirty="0"/>
          </a:p>
          <a:p>
            <a:r>
              <a:rPr lang="pt-BR" dirty="0"/>
              <a:t>(H ^ L) </a:t>
            </a:r>
            <a:r>
              <a:rPr lang="pt-BR" sz="1400" dirty="0"/>
              <a:t>→ 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771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F99E545-26A2-2D2D-E60D-7491309452CA}"/>
              </a:ext>
            </a:extLst>
          </p:cNvPr>
          <p:cNvSpPr txBox="1"/>
          <p:nvPr/>
        </p:nvSpPr>
        <p:spPr>
          <a:xfrm>
            <a:off x="375424" y="32189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BICONDICIONAL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822875-9E18-D79C-0CDF-6318690EA8EE}"/>
              </a:ext>
            </a:extLst>
          </p:cNvPr>
          <p:cNvSpPr txBox="1"/>
          <p:nvPr/>
        </p:nvSpPr>
        <p:spPr>
          <a:xfrm>
            <a:off x="520390" y="1341108"/>
            <a:ext cx="78132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Toda proposição composta, formada por duas proposições, que pode ser colocada na forma:</a:t>
            </a:r>
          </a:p>
          <a:p>
            <a:endParaRPr lang="pt-BR" dirty="0"/>
          </a:p>
          <a:p>
            <a:pPr algn="ctr"/>
            <a:r>
              <a:rPr lang="pt-BR" b="1" dirty="0"/>
              <a:t>(</a:t>
            </a:r>
            <a:r>
              <a:rPr lang="pt-BR" b="1" dirty="0" err="1"/>
              <a:t>proposição</a:t>
            </a:r>
            <a:r>
              <a:rPr lang="pt-BR" b="1" dirty="0"/>
              <a:t> 1) se, e somente se, (</a:t>
            </a:r>
            <a:r>
              <a:rPr lang="pt-BR" b="1" dirty="0" err="1"/>
              <a:t>proposição</a:t>
            </a:r>
            <a:r>
              <a:rPr lang="pt-BR" b="1" dirty="0"/>
              <a:t> 2) </a:t>
            </a:r>
          </a:p>
          <a:p>
            <a:endParaRPr lang="pt-BR" dirty="0"/>
          </a:p>
          <a:p>
            <a:r>
              <a:rPr lang="pt-BR" dirty="0"/>
              <a:t>é chamada de bicondicional e seu conectivo de ligação é representado pelo </a:t>
            </a:r>
            <a:r>
              <a:rPr lang="pt-BR" dirty="0" err="1"/>
              <a:t>símbolo</a:t>
            </a:r>
            <a:r>
              <a:rPr lang="pt-BR" dirty="0"/>
              <a:t> ↔.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proposição bicondicional pode ser entendida como uma conjunção de dois condicionais, ou seja, dado p ↔ q, temos p → q e q → p.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2C0A77-5B11-4D4C-1944-D19132BA6F82}"/>
              </a:ext>
            </a:extLst>
          </p:cNvPr>
          <p:cNvSpPr txBox="1"/>
          <p:nvPr/>
        </p:nvSpPr>
        <p:spPr>
          <a:xfrm>
            <a:off x="583580" y="3678487"/>
            <a:ext cx="7813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Marina é minha tia se, e somente se, é irmão de um de meus pais.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575139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750DD58-E7EC-3DCE-1965-1AD8AF017F44}"/>
              </a:ext>
            </a:extLst>
          </p:cNvPr>
          <p:cNvSpPr txBox="1"/>
          <p:nvPr/>
        </p:nvSpPr>
        <p:spPr>
          <a:xfrm>
            <a:off x="338254" y="3888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NEGAÇÃO (</a:t>
            </a:r>
            <a:r>
              <a:rPr lang="pt-BR" sz="2400" dirty="0"/>
              <a:t>¬ ou </a:t>
            </a:r>
            <a:r>
              <a:rPr lang="pt-BR" sz="2400" b="1" dirty="0"/>
              <a:t>~)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F3C705-A255-074E-DD63-B14F03A4E3CC}"/>
              </a:ext>
            </a:extLst>
          </p:cNvPr>
          <p:cNvSpPr txBox="1"/>
          <p:nvPr/>
        </p:nvSpPr>
        <p:spPr>
          <a:xfrm>
            <a:off x="252761" y="850469"/>
            <a:ext cx="87351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/>
              <a:t>Este conectivo </a:t>
            </a:r>
            <a:r>
              <a:rPr lang="pt-BR" sz="1800" dirty="0" err="1"/>
              <a:t>não</a:t>
            </a:r>
            <a:r>
              <a:rPr lang="pt-BR" sz="1800" dirty="0"/>
              <a:t> liga duas </a:t>
            </a:r>
            <a:r>
              <a:rPr lang="pt-BR" sz="1800" dirty="0" err="1"/>
              <a:t>proposições</a:t>
            </a:r>
            <a:r>
              <a:rPr lang="pt-BR" sz="1800" dirty="0"/>
              <a:t>, mas simplesmente nega a </a:t>
            </a:r>
            <a:r>
              <a:rPr lang="pt-BR" sz="1800" dirty="0" err="1"/>
              <a:t>afirmação</a:t>
            </a:r>
            <a:r>
              <a:rPr lang="pt-BR" sz="1800" dirty="0"/>
              <a:t> da </a:t>
            </a:r>
            <a:r>
              <a:rPr lang="pt-BR" sz="1800" dirty="0" err="1"/>
              <a:t>proposição</a:t>
            </a:r>
            <a:r>
              <a:rPr lang="pt-BR" sz="1800" dirty="0"/>
              <a:t> que o precede. Em virtude disso, é um conectivo </a:t>
            </a:r>
            <a:r>
              <a:rPr lang="pt-BR" sz="1800" dirty="0" err="1"/>
              <a:t>unário</a:t>
            </a:r>
            <a:r>
              <a:rPr lang="pt-BR" sz="1800" dirty="0"/>
              <a:t>, enquanto os anteriores </a:t>
            </a:r>
            <a:r>
              <a:rPr lang="pt-BR" sz="1800" dirty="0" err="1"/>
              <a:t>são</a:t>
            </a:r>
            <a:r>
              <a:rPr lang="pt-BR" sz="1800" dirty="0"/>
              <a:t> conectivos </a:t>
            </a:r>
            <a:r>
              <a:rPr lang="pt-BR" sz="1800" dirty="0" err="1"/>
              <a:t>binários</a:t>
            </a:r>
            <a:r>
              <a:rPr lang="pt-BR" sz="1800" dirty="0"/>
              <a:t>, pois ligam duas </a:t>
            </a:r>
            <a:r>
              <a:rPr lang="pt-BR" sz="1800" dirty="0" err="1"/>
              <a:t>proposições</a:t>
            </a:r>
            <a:r>
              <a:rPr lang="pt-BR" sz="1800" dirty="0"/>
              <a:t>. Se o valor verdade de uma </a:t>
            </a:r>
            <a:r>
              <a:rPr lang="pt-BR" sz="1800" dirty="0" err="1"/>
              <a:t>proposição</a:t>
            </a:r>
            <a:r>
              <a:rPr lang="pt-BR" sz="1800" dirty="0"/>
              <a:t> é (V), quando acompanhado do conectivo de </a:t>
            </a:r>
            <a:r>
              <a:rPr lang="pt-BR" sz="1800" dirty="0" err="1"/>
              <a:t>negação</a:t>
            </a:r>
            <a:r>
              <a:rPr lang="pt-BR" sz="1800" dirty="0"/>
              <a:t>, passará a ser (F) e vice-versa. O </a:t>
            </a:r>
            <a:r>
              <a:rPr lang="pt-BR" sz="1800" dirty="0" err="1"/>
              <a:t>símbolo</a:t>
            </a:r>
            <a:r>
              <a:rPr lang="pt-BR" sz="1800" dirty="0"/>
              <a:t> utilizado para esse conectivo é ¬ ou ~, colocado antes da letra que traduz a proposição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F2BB9D-57DB-EACD-0A14-53CF161FCCD9}"/>
              </a:ext>
            </a:extLst>
          </p:cNvPr>
          <p:cNvSpPr txBox="1"/>
          <p:nvPr/>
        </p:nvSpPr>
        <p:spPr>
          <a:xfrm>
            <a:off x="494371" y="292117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</a:t>
            </a:r>
            <a:r>
              <a:rPr lang="pt-BR" dirty="0" err="1"/>
              <a:t>Luís</a:t>
            </a:r>
            <a:r>
              <a:rPr lang="pt-BR" dirty="0"/>
              <a:t> </a:t>
            </a:r>
            <a:r>
              <a:rPr lang="pt-BR" dirty="0" err="1"/>
              <a:t>não</a:t>
            </a:r>
            <a:r>
              <a:rPr lang="pt-BR" dirty="0"/>
              <a:t> recebeu o seu pagamento na data prevista.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98F3A28-34B5-68F1-845B-5D88299727E6}"/>
              </a:ext>
            </a:extLst>
          </p:cNvPr>
          <p:cNvSpPr txBox="1"/>
          <p:nvPr/>
        </p:nvSpPr>
        <p:spPr>
          <a:xfrm>
            <a:off x="494371" y="329555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 = </a:t>
            </a:r>
            <a:r>
              <a:rPr lang="pt-BR" dirty="0" err="1"/>
              <a:t>Luís</a:t>
            </a:r>
            <a:r>
              <a:rPr lang="pt-BR" dirty="0"/>
              <a:t> recebeu o seu pagamento na data prevista.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BDF5BC1-D3AB-38AC-C557-FC9A2579FCC6}"/>
              </a:ext>
            </a:extLst>
          </p:cNvPr>
          <p:cNvSpPr txBox="1"/>
          <p:nvPr/>
        </p:nvSpPr>
        <p:spPr>
          <a:xfrm>
            <a:off x="605883" y="372673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Simbolicamente,temos</a:t>
            </a:r>
            <a:r>
              <a:rPr lang="pt-BR" dirty="0"/>
              <a:t>: ¬P ou ~P</a:t>
            </a:r>
          </a:p>
        </p:txBody>
      </p:sp>
    </p:spTree>
    <p:extLst>
      <p:ext uri="{BB962C8B-B14F-4D97-AF65-F5344CB8AC3E}">
        <p14:creationId xmlns:p14="http://schemas.microsoft.com/office/powerpoint/2010/main" val="4126556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53FFB2D-5535-2D07-D92E-3CCC3F6789D8}"/>
              </a:ext>
            </a:extLst>
          </p:cNvPr>
          <p:cNvSpPr txBox="1"/>
          <p:nvPr/>
        </p:nvSpPr>
        <p:spPr>
          <a:xfrm>
            <a:off x="100361" y="29990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/>
              <a:t> FORMALIZAÇÃO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6AB5D6-7446-86CF-99A3-E12F977A1F17}"/>
              </a:ext>
            </a:extLst>
          </p:cNvPr>
          <p:cNvSpPr txBox="1"/>
          <p:nvPr/>
        </p:nvSpPr>
        <p:spPr>
          <a:xfrm>
            <a:off x="405161" y="1073333"/>
            <a:ext cx="83336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O processo de </a:t>
            </a:r>
            <a:r>
              <a:rPr lang="pt-BR" sz="2000" dirty="0" err="1"/>
              <a:t>formalização</a:t>
            </a:r>
            <a:r>
              <a:rPr lang="pt-BR" sz="2000" dirty="0"/>
              <a:t> consiste em converter um conjunto de </a:t>
            </a:r>
            <a:r>
              <a:rPr lang="pt-BR" sz="2000" dirty="0" err="1"/>
              <a:t>proposições</a:t>
            </a:r>
            <a:r>
              <a:rPr lang="pt-BR" sz="2000" dirty="0"/>
              <a:t> interligadas em uma estrutura composta de letras proposicionais, conectivos </a:t>
            </a:r>
            <a:r>
              <a:rPr lang="pt-BR" sz="2000" dirty="0" err="1"/>
              <a:t>lógicos</a:t>
            </a:r>
            <a:r>
              <a:rPr lang="pt-BR" sz="2000" dirty="0"/>
              <a:t> e </a:t>
            </a:r>
            <a:r>
              <a:rPr lang="pt-BR" sz="2000" dirty="0" err="1"/>
              <a:t>símbolos</a:t>
            </a:r>
            <a:r>
              <a:rPr lang="pt-BR" sz="2000" dirty="0"/>
              <a:t> de </a:t>
            </a:r>
            <a:r>
              <a:rPr lang="pt-BR" sz="2000" dirty="0" err="1"/>
              <a:t>pontuação</a:t>
            </a:r>
            <a:r>
              <a:rPr lang="pt-BR" sz="2000" dirty="0"/>
              <a:t>. </a:t>
            </a:r>
          </a:p>
          <a:p>
            <a:pPr algn="just"/>
            <a:r>
              <a:rPr lang="pt-BR" sz="2000" dirty="0"/>
              <a:t>Os </a:t>
            </a:r>
            <a:r>
              <a:rPr lang="pt-BR" sz="2000" dirty="0" err="1"/>
              <a:t>símbolos</a:t>
            </a:r>
            <a:r>
              <a:rPr lang="pt-BR" sz="2000" dirty="0"/>
              <a:t> usados nessa </a:t>
            </a:r>
            <a:r>
              <a:rPr lang="pt-BR" sz="2000" dirty="0" err="1"/>
              <a:t>operação</a:t>
            </a:r>
            <a:r>
              <a:rPr lang="pt-BR" sz="2000" dirty="0"/>
              <a:t> </a:t>
            </a:r>
            <a:r>
              <a:rPr lang="pt-BR" sz="2000" dirty="0" err="1"/>
              <a:t>são</a:t>
            </a:r>
            <a:r>
              <a:rPr lang="pt-BR" sz="2000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2000" dirty="0"/>
              <a:t>Letras proposicionais: </a:t>
            </a:r>
            <a:r>
              <a:rPr lang="pt-BR" sz="2000" b="1" dirty="0"/>
              <a:t>A, B, ..., P, Q </a:t>
            </a:r>
            <a:r>
              <a:rPr lang="pt-BR" sz="2000" dirty="0"/>
              <a:t>etc., ou </a:t>
            </a:r>
            <a:r>
              <a:rPr lang="pt-BR" sz="2000" b="1" dirty="0"/>
              <a:t>P1, P2, ... , </a:t>
            </a:r>
            <a:r>
              <a:rPr lang="pt-BR" sz="2000" dirty="0"/>
              <a:t>ou </a:t>
            </a:r>
            <a:r>
              <a:rPr lang="pt-BR" sz="2000" b="1" dirty="0"/>
              <a:t>a, b, c,... </a:t>
            </a:r>
            <a:r>
              <a:rPr lang="pt-BR" sz="2000" dirty="0"/>
              <a:t>ou </a:t>
            </a:r>
            <a:r>
              <a:rPr lang="pt-BR" sz="2000" b="1" dirty="0"/>
              <a:t>p1, p2, p3, ...;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2000" dirty="0"/>
              <a:t>Conectivos proposicionais: ¬ ou ~, ∧, ∨, →, ↔;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2000" dirty="0" err="1"/>
              <a:t>Parênteses</a:t>
            </a:r>
            <a:r>
              <a:rPr lang="pt-BR" sz="2000" dirty="0"/>
              <a:t>: ( ).</a:t>
            </a:r>
          </a:p>
        </p:txBody>
      </p:sp>
    </p:spTree>
    <p:extLst>
      <p:ext uri="{BB962C8B-B14F-4D97-AF65-F5344CB8AC3E}">
        <p14:creationId xmlns:p14="http://schemas.microsoft.com/office/powerpoint/2010/main" val="1031811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86528EE-3821-5D4D-30F9-698E9647832F}"/>
              </a:ext>
            </a:extLst>
          </p:cNvPr>
          <p:cNvSpPr txBox="1"/>
          <p:nvPr/>
        </p:nvSpPr>
        <p:spPr>
          <a:xfrm>
            <a:off x="390292" y="415337"/>
            <a:ext cx="85455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Em geral, para evitar ambiguidades nas proposições </a:t>
            </a:r>
            <a:r>
              <a:rPr lang="pt-BR" sz="2000" dirty="0" err="1"/>
              <a:t>com-postas</a:t>
            </a:r>
            <a:r>
              <a:rPr lang="pt-BR" sz="2000" dirty="0"/>
              <a:t>, é necessário estabelecer uma pontuação adequada. Tal pontuação é idêntica à utilizada em expressões algébricas, se- guindo as seguintes regras:</a:t>
            </a:r>
          </a:p>
          <a:p>
            <a:endParaRPr lang="pt-BR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cada parêntese aberto deve ser fechado; os internos à </a:t>
            </a:r>
            <a:r>
              <a:rPr lang="pt-BR" sz="2000" dirty="0" err="1"/>
              <a:t>expressão</a:t>
            </a:r>
            <a:r>
              <a:rPr lang="pt-BR" sz="2000" dirty="0"/>
              <a:t> precedem aos mais externos;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2000" dirty="0"/>
              <a:t>a ordem de prioridade dos conectivos é: </a:t>
            </a:r>
          </a:p>
          <a:p>
            <a:pPr marL="342900" lvl="7" indent="-342900">
              <a:buFont typeface="+mj-lt"/>
              <a:buAutoNum type="arabicParenR"/>
            </a:pPr>
            <a:r>
              <a:rPr lang="pt-BR" sz="2000" dirty="0"/>
              <a:t>		¬</a:t>
            </a:r>
          </a:p>
          <a:p>
            <a:pPr marL="342900" lvl="7" indent="-342900">
              <a:buFont typeface="+mj-lt"/>
              <a:buAutoNum type="arabicParenR"/>
            </a:pPr>
            <a:r>
              <a:rPr lang="pt-BR" sz="2000" dirty="0"/>
              <a:t>		∧ e ∨ </a:t>
            </a:r>
          </a:p>
          <a:p>
            <a:pPr marL="342900" lvl="7" indent="-342900">
              <a:buFont typeface="+mj-lt"/>
              <a:buAutoNum type="arabicParenR"/>
            </a:pPr>
            <a:r>
              <a:rPr lang="pt-BR" sz="2000" dirty="0"/>
              <a:t>		→ e ↔</a:t>
            </a:r>
          </a:p>
        </p:txBody>
      </p:sp>
    </p:spTree>
    <p:extLst>
      <p:ext uri="{BB962C8B-B14F-4D97-AF65-F5344CB8AC3E}">
        <p14:creationId xmlns:p14="http://schemas.microsoft.com/office/powerpoint/2010/main" val="2563593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55C8BC1-AD1A-8021-655E-C152C2503617}"/>
              </a:ext>
            </a:extLst>
          </p:cNvPr>
          <p:cNvSpPr txBox="1"/>
          <p:nvPr/>
        </p:nvSpPr>
        <p:spPr>
          <a:xfrm>
            <a:off x="234175" y="292306"/>
            <a:ext cx="83596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/>
              <a:t>Se</a:t>
            </a:r>
            <a:r>
              <a:rPr lang="pt-BR" sz="2000" dirty="0"/>
              <a:t> tomarmos café </a:t>
            </a:r>
            <a:r>
              <a:rPr lang="pt-BR" sz="2000" b="1" dirty="0"/>
              <a:t>ou</a:t>
            </a:r>
            <a:r>
              <a:rPr lang="pt-BR" sz="2000" dirty="0"/>
              <a:t> comermos algo, chegaremos atrasados à aula de Lógica Matemática, </a:t>
            </a:r>
            <a:r>
              <a:rPr lang="pt-BR" sz="2000" b="1" dirty="0"/>
              <a:t>mas</a:t>
            </a:r>
            <a:r>
              <a:rPr lang="pt-BR" sz="2000" dirty="0"/>
              <a:t>, </a:t>
            </a:r>
            <a:r>
              <a:rPr lang="pt-BR" sz="2000" b="1" dirty="0"/>
              <a:t>se</a:t>
            </a:r>
            <a:r>
              <a:rPr lang="pt-BR" sz="2000" dirty="0"/>
              <a:t> isso for um problema, é melhor despedirmo-nos agora.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851B69-1BDB-0439-8067-B15F9CF9AFF0}"/>
              </a:ext>
            </a:extLst>
          </p:cNvPr>
          <p:cNvSpPr txBox="1"/>
          <p:nvPr/>
        </p:nvSpPr>
        <p:spPr>
          <a:xfrm>
            <a:off x="650487" y="1645468"/>
            <a:ext cx="74378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T = tomarmos </a:t>
            </a:r>
            <a:r>
              <a:rPr lang="pt-BR" sz="2000" dirty="0" err="1"/>
              <a:t>cafe</a:t>
            </a:r>
            <a:r>
              <a:rPr lang="pt-BR" sz="2000" dirty="0"/>
              <a:t>́;</a:t>
            </a:r>
          </a:p>
          <a:p>
            <a:r>
              <a:rPr lang="pt-BR" sz="2000" dirty="0"/>
              <a:t>C = comermos algo;</a:t>
            </a:r>
          </a:p>
          <a:p>
            <a:r>
              <a:rPr lang="pt-BR" sz="2000" dirty="0"/>
              <a:t>A = chegaremos atrasados à aula de Lógica Matemática;</a:t>
            </a:r>
          </a:p>
          <a:p>
            <a:r>
              <a:rPr lang="pt-BR" sz="2000" dirty="0"/>
              <a:t>P = isso é um problema;</a:t>
            </a:r>
          </a:p>
          <a:p>
            <a:r>
              <a:rPr lang="pt-BR" sz="2000" dirty="0"/>
              <a:t>D = é melhor despedirmo-nos agora.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733693-73A9-CDE8-B733-45C71D84DC76}"/>
              </a:ext>
            </a:extLst>
          </p:cNvPr>
          <p:cNvSpPr txBox="1"/>
          <p:nvPr/>
        </p:nvSpPr>
        <p:spPr>
          <a:xfrm>
            <a:off x="1163443" y="3835532"/>
            <a:ext cx="6924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Simbolicamente, temos: ((T ∨ C → A) ∧ (P → D)).</a:t>
            </a:r>
          </a:p>
        </p:txBody>
      </p:sp>
    </p:spTree>
    <p:extLst>
      <p:ext uri="{BB962C8B-B14F-4D97-AF65-F5344CB8AC3E}">
        <p14:creationId xmlns:p14="http://schemas.microsoft.com/office/powerpoint/2010/main" val="3706655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64242B-0207-43DC-5606-B7B663B70E37}"/>
              </a:ext>
            </a:extLst>
          </p:cNvPr>
          <p:cNvSpPr txBox="1"/>
          <p:nvPr/>
        </p:nvSpPr>
        <p:spPr>
          <a:xfrm>
            <a:off x="323384" y="604688"/>
            <a:ext cx="83076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Sejam as </a:t>
            </a:r>
            <a:r>
              <a:rPr lang="pt-BR" sz="2000" dirty="0" err="1"/>
              <a:t>proposições</a:t>
            </a:r>
            <a:r>
              <a:rPr lang="pt-BR" sz="2000" dirty="0"/>
              <a:t>: A = Carlos é argentino e B = </a:t>
            </a:r>
            <a:r>
              <a:rPr lang="pt-BR" sz="2000" dirty="0" err="1"/>
              <a:t>João</a:t>
            </a:r>
            <a:r>
              <a:rPr lang="pt-BR" sz="2000" dirty="0"/>
              <a:t> é brasileiro. Traduza para a linguagem natural as seguintes </a:t>
            </a:r>
            <a:r>
              <a:rPr lang="pt-BR" sz="2000" dirty="0" err="1"/>
              <a:t>proposições</a:t>
            </a:r>
            <a:r>
              <a:rPr lang="pt-BR" sz="2000" dirty="0"/>
              <a:t> </a:t>
            </a:r>
            <a:r>
              <a:rPr lang="pt-BR" sz="2000" dirty="0" err="1"/>
              <a:t>simbólicas</a:t>
            </a:r>
            <a:r>
              <a:rPr lang="pt-BR" sz="2000" dirty="0"/>
              <a:t>: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A ∨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¬A ∧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A →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A → ¬B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¬A ↔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¬A∧¬B</a:t>
            </a:r>
          </a:p>
        </p:txBody>
      </p:sp>
    </p:spTree>
    <p:extLst>
      <p:ext uri="{BB962C8B-B14F-4D97-AF65-F5344CB8AC3E}">
        <p14:creationId xmlns:p14="http://schemas.microsoft.com/office/powerpoint/2010/main" val="3213368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64242B-0207-43DC-5606-B7B663B70E37}"/>
              </a:ext>
            </a:extLst>
          </p:cNvPr>
          <p:cNvSpPr txBox="1"/>
          <p:nvPr/>
        </p:nvSpPr>
        <p:spPr>
          <a:xfrm>
            <a:off x="323384" y="604688"/>
            <a:ext cx="83076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Sejam as </a:t>
            </a:r>
            <a:r>
              <a:rPr lang="pt-BR" sz="2000" dirty="0" err="1"/>
              <a:t>proposições</a:t>
            </a:r>
            <a:r>
              <a:rPr lang="pt-BR" sz="2000" dirty="0"/>
              <a:t>: A = Carlos é argentino e B = </a:t>
            </a:r>
            <a:r>
              <a:rPr lang="pt-BR" sz="2000" dirty="0" err="1"/>
              <a:t>João</a:t>
            </a:r>
            <a:r>
              <a:rPr lang="pt-BR" sz="2000" dirty="0"/>
              <a:t> é brasileiro. Traduza para a linguagem natural as seguintes </a:t>
            </a:r>
            <a:r>
              <a:rPr lang="pt-BR" sz="2000" dirty="0" err="1"/>
              <a:t>proposições</a:t>
            </a:r>
            <a:r>
              <a:rPr lang="pt-BR" sz="2000" dirty="0"/>
              <a:t> </a:t>
            </a:r>
            <a:r>
              <a:rPr lang="pt-BR" sz="2000" dirty="0" err="1"/>
              <a:t>simbólicas</a:t>
            </a:r>
            <a:r>
              <a:rPr lang="pt-BR" sz="2000" dirty="0"/>
              <a:t>: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A ∨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¬A ∧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A →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A → ¬B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¬A ↔ B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¬A∧¬B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A52F3F-B62A-1070-FCB1-EC188920B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510" y="1514707"/>
            <a:ext cx="58007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15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64242B-0207-43DC-5606-B7B663B70E37}"/>
              </a:ext>
            </a:extLst>
          </p:cNvPr>
          <p:cNvSpPr txBox="1"/>
          <p:nvPr/>
        </p:nvSpPr>
        <p:spPr>
          <a:xfrm>
            <a:off x="210014" y="656727"/>
            <a:ext cx="87239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Dadas as </a:t>
            </a:r>
            <a:r>
              <a:rPr lang="pt-BR" sz="2000" dirty="0" err="1"/>
              <a:t>proposições</a:t>
            </a:r>
            <a:r>
              <a:rPr lang="pt-BR" sz="2000" dirty="0"/>
              <a:t>: A = Luiz é administrador, B = Alfredo é </a:t>
            </a:r>
            <a:r>
              <a:rPr lang="pt-BR" sz="2000" dirty="0" err="1"/>
              <a:t>bancário</a:t>
            </a:r>
            <a:r>
              <a:rPr lang="pt-BR" sz="2000" dirty="0"/>
              <a:t> e C = Maria é comerciante, traduza para a linguagem </a:t>
            </a:r>
            <a:r>
              <a:rPr lang="pt-BR" sz="2000" dirty="0" err="1"/>
              <a:t>simbólica</a:t>
            </a:r>
            <a:r>
              <a:rPr lang="pt-BR" sz="2000" dirty="0"/>
              <a:t> as </a:t>
            </a:r>
            <a:r>
              <a:rPr lang="pt-BR" sz="2000" dirty="0" err="1"/>
              <a:t>proposições</a:t>
            </a:r>
            <a:r>
              <a:rPr lang="pt-BR" sz="2000" dirty="0"/>
              <a:t> a seguir.</a:t>
            </a:r>
          </a:p>
          <a:p>
            <a:pPr algn="just"/>
            <a:r>
              <a:rPr lang="pt-BR" sz="2000" dirty="0"/>
              <a:t>a) Ou Luiz é administrador ou Alfredo é </a:t>
            </a:r>
            <a:r>
              <a:rPr lang="pt-BR" sz="2000" dirty="0" err="1"/>
              <a:t>bancário</a:t>
            </a:r>
            <a:r>
              <a:rPr lang="pt-BR" sz="2000" dirty="0"/>
              <a:t>, mas Maria </a:t>
            </a:r>
            <a:r>
              <a:rPr lang="pt-BR" sz="2000" dirty="0" err="1"/>
              <a:t>não</a:t>
            </a:r>
            <a:r>
              <a:rPr lang="pt-BR" sz="2000" dirty="0"/>
              <a:t> é comerciante.</a:t>
            </a:r>
          </a:p>
          <a:p>
            <a:pPr algn="just"/>
            <a:r>
              <a:rPr lang="pt-BR" sz="2000" dirty="0"/>
              <a:t>b) Luiz </a:t>
            </a:r>
            <a:r>
              <a:rPr lang="pt-BR" sz="2000" dirty="0" err="1"/>
              <a:t>não</a:t>
            </a:r>
            <a:r>
              <a:rPr lang="pt-BR" sz="2000" dirty="0"/>
              <a:t> é administrador e Maria é comerciante.</a:t>
            </a:r>
          </a:p>
          <a:p>
            <a:pPr algn="just"/>
            <a:r>
              <a:rPr lang="pt-BR" sz="2000" dirty="0"/>
              <a:t>c) Se Alfredo é </a:t>
            </a:r>
            <a:r>
              <a:rPr lang="pt-BR" sz="2000" dirty="0" err="1"/>
              <a:t>bancário</a:t>
            </a:r>
            <a:r>
              <a:rPr lang="pt-BR" sz="2000" dirty="0"/>
              <a:t> e Maria é comerciante, </a:t>
            </a:r>
            <a:r>
              <a:rPr lang="pt-BR" sz="2000" dirty="0" err="1"/>
              <a:t>então</a:t>
            </a:r>
            <a:r>
              <a:rPr lang="pt-BR" sz="2000" dirty="0"/>
              <a:t> Luiz é administrador.</a:t>
            </a:r>
          </a:p>
          <a:p>
            <a:pPr algn="just"/>
            <a:r>
              <a:rPr lang="pt-BR" sz="2000" dirty="0"/>
              <a:t>d) É mentira que Luiz é administrador, que Alfredo é </a:t>
            </a:r>
            <a:r>
              <a:rPr lang="pt-BR" sz="2000" dirty="0" err="1"/>
              <a:t>bancário</a:t>
            </a:r>
            <a:r>
              <a:rPr lang="pt-BR" sz="2000" dirty="0"/>
              <a:t> ou que Maria seja comerciante.</a:t>
            </a:r>
          </a:p>
          <a:p>
            <a:pPr algn="just"/>
            <a:r>
              <a:rPr lang="pt-BR" sz="2000" dirty="0"/>
              <a:t>e) Luiz é administrador se, e somente </a:t>
            </a:r>
            <a:r>
              <a:rPr lang="pt-BR" sz="2000" dirty="0" err="1"/>
              <a:t>se,Alfredo</a:t>
            </a:r>
            <a:r>
              <a:rPr lang="pt-BR" sz="2000" dirty="0"/>
              <a:t> </a:t>
            </a:r>
            <a:r>
              <a:rPr lang="pt-BR" sz="2000" dirty="0" err="1"/>
              <a:t>não</a:t>
            </a:r>
            <a:r>
              <a:rPr lang="pt-BR" sz="2000" dirty="0"/>
              <a:t> é </a:t>
            </a:r>
            <a:r>
              <a:rPr lang="pt-BR" sz="2000" dirty="0" err="1"/>
              <a:t>bancário</a:t>
            </a:r>
            <a:r>
              <a:rPr lang="pt-BR" sz="2000" dirty="0"/>
              <a:t> e Maria </a:t>
            </a:r>
            <a:r>
              <a:rPr lang="pt-BR" sz="2000" dirty="0" err="1"/>
              <a:t>não</a:t>
            </a:r>
            <a:r>
              <a:rPr lang="pt-BR" sz="2000" dirty="0"/>
              <a:t> é comerciante.</a:t>
            </a:r>
          </a:p>
        </p:txBody>
      </p:sp>
    </p:spTree>
    <p:extLst>
      <p:ext uri="{BB962C8B-B14F-4D97-AF65-F5344CB8AC3E}">
        <p14:creationId xmlns:p14="http://schemas.microsoft.com/office/powerpoint/2010/main" val="2329486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64242B-0207-43DC-5606-B7B663B70E37}"/>
              </a:ext>
            </a:extLst>
          </p:cNvPr>
          <p:cNvSpPr txBox="1"/>
          <p:nvPr/>
        </p:nvSpPr>
        <p:spPr>
          <a:xfrm>
            <a:off x="210014" y="656727"/>
            <a:ext cx="87239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Dadas as </a:t>
            </a:r>
            <a:r>
              <a:rPr lang="pt-BR" sz="2000" dirty="0" err="1"/>
              <a:t>proposições</a:t>
            </a:r>
            <a:r>
              <a:rPr lang="pt-BR" sz="2000" dirty="0"/>
              <a:t>: A = Luiz é administrador, B = Alfredo é </a:t>
            </a:r>
            <a:r>
              <a:rPr lang="pt-BR" sz="2000" dirty="0" err="1"/>
              <a:t>bancário</a:t>
            </a:r>
            <a:r>
              <a:rPr lang="pt-BR" sz="2000" dirty="0"/>
              <a:t> e C = Maria é comerciante, traduza para a linguagem </a:t>
            </a:r>
            <a:r>
              <a:rPr lang="pt-BR" sz="2000" dirty="0" err="1"/>
              <a:t>simbólica</a:t>
            </a:r>
            <a:r>
              <a:rPr lang="pt-BR" sz="2000" dirty="0"/>
              <a:t> as </a:t>
            </a:r>
            <a:r>
              <a:rPr lang="pt-BR" sz="2000" dirty="0" err="1"/>
              <a:t>proposições</a:t>
            </a:r>
            <a:r>
              <a:rPr lang="pt-BR" sz="2000" dirty="0"/>
              <a:t> a seguir.</a:t>
            </a:r>
          </a:p>
          <a:p>
            <a:pPr algn="just"/>
            <a:r>
              <a:rPr lang="pt-BR" sz="2000" dirty="0"/>
              <a:t>a) Ou Luiz é administrador ou Alfredo é </a:t>
            </a:r>
            <a:r>
              <a:rPr lang="pt-BR" sz="2000" dirty="0" err="1"/>
              <a:t>bancário</a:t>
            </a:r>
            <a:r>
              <a:rPr lang="pt-BR" sz="2000" dirty="0"/>
              <a:t>, mas Maria </a:t>
            </a:r>
            <a:r>
              <a:rPr lang="pt-BR" sz="2000" dirty="0" err="1"/>
              <a:t>não</a:t>
            </a:r>
            <a:r>
              <a:rPr lang="pt-BR" sz="2000" dirty="0"/>
              <a:t> é comerciante.</a:t>
            </a:r>
          </a:p>
          <a:p>
            <a:pPr algn="just"/>
            <a:r>
              <a:rPr lang="pt-BR" sz="2000" dirty="0"/>
              <a:t>b) Luiz </a:t>
            </a:r>
            <a:r>
              <a:rPr lang="pt-BR" sz="2000" dirty="0" err="1"/>
              <a:t>não</a:t>
            </a:r>
            <a:r>
              <a:rPr lang="pt-BR" sz="2000" dirty="0"/>
              <a:t> é administrador e Maria é comerciante.</a:t>
            </a:r>
          </a:p>
          <a:p>
            <a:pPr algn="just"/>
            <a:r>
              <a:rPr lang="pt-BR" sz="2000" dirty="0"/>
              <a:t>c) Se Alfredo é </a:t>
            </a:r>
            <a:r>
              <a:rPr lang="pt-BR" sz="2000" dirty="0" err="1"/>
              <a:t>bancário</a:t>
            </a:r>
            <a:r>
              <a:rPr lang="pt-BR" sz="2000" dirty="0"/>
              <a:t> e Maria é comerciante, </a:t>
            </a:r>
            <a:r>
              <a:rPr lang="pt-BR" sz="2000" dirty="0" err="1"/>
              <a:t>então</a:t>
            </a:r>
            <a:r>
              <a:rPr lang="pt-BR" sz="2000" dirty="0"/>
              <a:t> Luiz é administrador.</a:t>
            </a:r>
          </a:p>
          <a:p>
            <a:pPr algn="just"/>
            <a:r>
              <a:rPr lang="pt-BR" sz="2000" dirty="0"/>
              <a:t>d) É mentira que Luiz é administrador, que Alfredo é </a:t>
            </a:r>
            <a:r>
              <a:rPr lang="pt-BR" sz="2000" dirty="0" err="1"/>
              <a:t>bancário</a:t>
            </a:r>
            <a:r>
              <a:rPr lang="pt-BR" sz="2000" dirty="0"/>
              <a:t> ou que Maria seja comerciante.</a:t>
            </a:r>
          </a:p>
          <a:p>
            <a:pPr algn="just"/>
            <a:r>
              <a:rPr lang="pt-BR" sz="2000" dirty="0"/>
              <a:t>e) Luiz é administrador se, e somente </a:t>
            </a:r>
            <a:r>
              <a:rPr lang="pt-BR" sz="2000" dirty="0" err="1"/>
              <a:t>se,Alfredo</a:t>
            </a:r>
            <a:r>
              <a:rPr lang="pt-BR" sz="2000" dirty="0"/>
              <a:t> </a:t>
            </a:r>
            <a:r>
              <a:rPr lang="pt-BR" sz="2000" dirty="0" err="1"/>
              <a:t>não</a:t>
            </a:r>
            <a:r>
              <a:rPr lang="pt-BR" sz="2000" dirty="0"/>
              <a:t> é </a:t>
            </a:r>
            <a:r>
              <a:rPr lang="pt-BR" sz="2000" dirty="0" err="1"/>
              <a:t>bancário</a:t>
            </a:r>
            <a:r>
              <a:rPr lang="pt-BR" sz="2000" dirty="0"/>
              <a:t> e Maria </a:t>
            </a:r>
            <a:r>
              <a:rPr lang="pt-BR" sz="2000" dirty="0" err="1"/>
              <a:t>não</a:t>
            </a:r>
            <a:r>
              <a:rPr lang="pt-BR" sz="2000" dirty="0"/>
              <a:t> é comerciante.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B726752-2DE3-69D9-076F-6DAF4BCD2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327" y="3830129"/>
            <a:ext cx="1447912" cy="131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56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64242B-0207-43DC-5606-B7B663B70E37}"/>
              </a:ext>
            </a:extLst>
          </p:cNvPr>
          <p:cNvSpPr txBox="1"/>
          <p:nvPr/>
        </p:nvSpPr>
        <p:spPr>
          <a:xfrm>
            <a:off x="408878" y="322190"/>
            <a:ext cx="85251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 Coloque em linguagem </a:t>
            </a:r>
            <a:r>
              <a:rPr lang="pt-BR" sz="2000" dirty="0" err="1"/>
              <a:t>simbólica</a:t>
            </a:r>
            <a:r>
              <a:rPr lang="pt-BR" sz="2000" dirty="0"/>
              <a:t> as seguintes proposições matemáticas:</a:t>
            </a:r>
          </a:p>
          <a:p>
            <a:pPr algn="just"/>
            <a:endParaRPr lang="pt-BR" sz="2000" dirty="0"/>
          </a:p>
          <a:p>
            <a:pPr marL="457200" indent="-457200" algn="just">
              <a:buAutoNum type="alphaLcParenR"/>
            </a:pPr>
            <a:r>
              <a:rPr lang="pt-BR" sz="2000" dirty="0"/>
              <a:t>x é menor que 3 e maior que 0, ou, x </a:t>
            </a:r>
            <a:r>
              <a:rPr lang="pt-BR" sz="2000" dirty="0" err="1"/>
              <a:t>não</a:t>
            </a:r>
            <a:r>
              <a:rPr lang="pt-BR" sz="2000" dirty="0"/>
              <a:t> é igual a 7. 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Se x é menor que 4 e maior que 2, </a:t>
            </a:r>
            <a:r>
              <a:rPr lang="pt-BR" sz="2000" dirty="0" err="1"/>
              <a:t>então</a:t>
            </a:r>
            <a:r>
              <a:rPr lang="pt-BR" sz="2000" dirty="0"/>
              <a:t> x é igual a 3.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Ou x é maior que 0, ou x é menor que 3 e y é maior que 0.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x é igual a 3 se, e somente se, y for maior que 0.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Se x é diferente de 2, então y é igual a 9 e z é maior que 3</a:t>
            </a:r>
          </a:p>
        </p:txBody>
      </p:sp>
    </p:spTree>
    <p:extLst>
      <p:ext uri="{BB962C8B-B14F-4D97-AF65-F5344CB8AC3E}">
        <p14:creationId xmlns:p14="http://schemas.microsoft.com/office/powerpoint/2010/main" val="1917216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564242B-0207-43DC-5606-B7B663B70E37}"/>
              </a:ext>
            </a:extLst>
          </p:cNvPr>
          <p:cNvSpPr txBox="1"/>
          <p:nvPr/>
        </p:nvSpPr>
        <p:spPr>
          <a:xfrm>
            <a:off x="210014" y="322190"/>
            <a:ext cx="87239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 Coloque em linguagem </a:t>
            </a:r>
            <a:r>
              <a:rPr lang="pt-BR" sz="2000" dirty="0" err="1"/>
              <a:t>simbólica</a:t>
            </a:r>
            <a:r>
              <a:rPr lang="pt-BR" sz="2000" dirty="0"/>
              <a:t> as seguintes </a:t>
            </a:r>
            <a:r>
              <a:rPr lang="pt-BR" sz="2000" dirty="0" err="1"/>
              <a:t>proposições</a:t>
            </a:r>
            <a:r>
              <a:rPr lang="pt-BR" sz="2000" dirty="0"/>
              <a:t> </a:t>
            </a:r>
            <a:r>
              <a:rPr lang="pt-BR" sz="2000" dirty="0" err="1"/>
              <a:t>matemáticas</a:t>
            </a:r>
            <a:r>
              <a:rPr lang="pt-BR" sz="2000" dirty="0"/>
              <a:t>:</a:t>
            </a:r>
          </a:p>
          <a:p>
            <a:pPr algn="just"/>
            <a:endParaRPr lang="pt-BR" sz="2000" dirty="0"/>
          </a:p>
          <a:p>
            <a:pPr marL="457200" indent="-457200" algn="just">
              <a:buAutoNum type="alphaLcParenR"/>
            </a:pPr>
            <a:r>
              <a:rPr lang="pt-BR" sz="2000" dirty="0"/>
              <a:t>x é menor que 3 e maior que 0, ou, x </a:t>
            </a:r>
            <a:r>
              <a:rPr lang="pt-BR" sz="2000" dirty="0" err="1"/>
              <a:t>não</a:t>
            </a:r>
            <a:r>
              <a:rPr lang="pt-BR" sz="2000" dirty="0"/>
              <a:t> é igual a 7. 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Se x é menor que 4 e maior que 2, </a:t>
            </a:r>
            <a:r>
              <a:rPr lang="pt-BR" sz="2000" dirty="0" err="1"/>
              <a:t>então</a:t>
            </a:r>
            <a:r>
              <a:rPr lang="pt-BR" sz="2000" dirty="0"/>
              <a:t> x é igual a 3.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Ou x é maior que 0, ou x é menor que 3 e y é maior que 0.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x é igual a 3 </a:t>
            </a:r>
            <a:r>
              <a:rPr lang="pt-BR" sz="2000" dirty="0" err="1"/>
              <a:t>se,e</a:t>
            </a:r>
            <a:r>
              <a:rPr lang="pt-BR" sz="2000" dirty="0"/>
              <a:t> somente se, y for maior que 0.</a:t>
            </a:r>
          </a:p>
          <a:p>
            <a:pPr marL="457200" indent="-457200" algn="just">
              <a:buAutoNum type="alphaLcParenR"/>
            </a:pPr>
            <a:r>
              <a:rPr lang="pt-BR" sz="2000" dirty="0"/>
              <a:t>Se x é diferente de 2, </a:t>
            </a:r>
            <a:r>
              <a:rPr lang="pt-BR" sz="2000" dirty="0" err="1"/>
              <a:t>então</a:t>
            </a:r>
            <a:r>
              <a:rPr lang="pt-BR" sz="2000" dirty="0"/>
              <a:t> y é igual a 9 e z é maior que 3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FA136D-82C5-A9D7-F33E-F84116A79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20" y="2781156"/>
            <a:ext cx="3010132" cy="167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550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072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D10E034-C0C3-78C4-60D7-44C0D96981CD}"/>
              </a:ext>
            </a:extLst>
          </p:cNvPr>
          <p:cNvSpPr txBox="1"/>
          <p:nvPr/>
        </p:nvSpPr>
        <p:spPr>
          <a:xfrm>
            <a:off x="249044" y="30702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 err="1"/>
              <a:t>Fórmula</a:t>
            </a:r>
            <a:r>
              <a:rPr lang="pt-BR" sz="3200" b="1" dirty="0"/>
              <a:t> bem formada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BD72E4-FC8F-CF77-5CF0-86CDED78EA0B}"/>
              </a:ext>
            </a:extLst>
          </p:cNvPr>
          <p:cNvSpPr txBox="1"/>
          <p:nvPr/>
        </p:nvSpPr>
        <p:spPr>
          <a:xfrm>
            <a:off x="249044" y="891804"/>
            <a:ext cx="86459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Uma sequência qualquer de elementos do vocabulário do calculo proposicional constitui uma fórmula. No entanto, nem toda fórmula é aceitável para o cálculo proposicional.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Uma fórmula aceitável para o cálculo proposicional é denominada fórmula bem formada, </a:t>
            </a:r>
            <a:r>
              <a:rPr lang="pt-BR" sz="1600" dirty="0" err="1"/>
              <a:t>wff</a:t>
            </a:r>
            <a:r>
              <a:rPr lang="pt-BR" sz="1600" dirty="0"/>
              <a:t> (</a:t>
            </a:r>
            <a:r>
              <a:rPr lang="pt-BR" sz="1600" dirty="0" err="1"/>
              <a:t>well-formed</a:t>
            </a:r>
            <a:r>
              <a:rPr lang="pt-BR" sz="1600" dirty="0"/>
              <a:t> formula), abreviadamente.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Para se obter as </a:t>
            </a:r>
            <a:r>
              <a:rPr lang="pt-BR" sz="1600" dirty="0" err="1"/>
              <a:t>wffs</a:t>
            </a:r>
            <a:r>
              <a:rPr lang="pt-BR" sz="1600" dirty="0"/>
              <a:t>, é preciso definir as regras de </a:t>
            </a:r>
            <a:r>
              <a:rPr lang="pt-BR" sz="1600" dirty="0" err="1"/>
              <a:t>formação</a:t>
            </a:r>
            <a:r>
              <a:rPr lang="pt-BR" sz="1600" dirty="0"/>
              <a:t> para o </a:t>
            </a:r>
            <a:r>
              <a:rPr lang="pt-BR" sz="1600" dirty="0" err="1"/>
              <a:t>cálculo</a:t>
            </a:r>
            <a:r>
              <a:rPr lang="pt-BR" sz="1600" dirty="0"/>
              <a:t> proposicional, que </a:t>
            </a:r>
            <a:r>
              <a:rPr lang="pt-BR" sz="1600" dirty="0" err="1"/>
              <a:t>são</a:t>
            </a:r>
            <a:r>
              <a:rPr lang="pt-BR" sz="1600" dirty="0"/>
              <a:t> a </a:t>
            </a:r>
            <a:r>
              <a:rPr lang="pt-BR" sz="1600" dirty="0" err="1"/>
              <a:t>gramática</a:t>
            </a:r>
            <a:r>
              <a:rPr lang="pt-BR" sz="1600" dirty="0"/>
              <a:t> do </a:t>
            </a:r>
            <a:r>
              <a:rPr lang="pt-BR" sz="1600" dirty="0" err="1"/>
              <a:t>cálculo</a:t>
            </a:r>
            <a:r>
              <a:rPr lang="pt-BR" sz="1600" dirty="0"/>
              <a:t> proposicional.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Portanto, qualquer </a:t>
            </a:r>
            <a:r>
              <a:rPr lang="pt-BR" sz="1600" dirty="0" err="1"/>
              <a:t>fórmula</a:t>
            </a:r>
            <a:r>
              <a:rPr lang="pt-BR" sz="1600" dirty="0"/>
              <a:t> </a:t>
            </a:r>
            <a:r>
              <a:rPr lang="pt-BR" sz="1600" dirty="0" err="1"/>
              <a:t>construída</a:t>
            </a:r>
            <a:r>
              <a:rPr lang="pt-BR" sz="1600" dirty="0"/>
              <a:t> de acordo com essas regras de </a:t>
            </a:r>
            <a:r>
              <a:rPr lang="pt-BR" sz="1600" dirty="0" err="1"/>
              <a:t>formação</a:t>
            </a:r>
            <a:r>
              <a:rPr lang="pt-BR" sz="1600" dirty="0"/>
              <a:t> é uma </a:t>
            </a:r>
            <a:r>
              <a:rPr lang="pt-BR" sz="1600" dirty="0" err="1"/>
              <a:t>wff</a:t>
            </a:r>
            <a:r>
              <a:rPr lang="pt-BR" sz="1600" dirty="0"/>
              <a:t>.</a:t>
            </a:r>
          </a:p>
          <a:p>
            <a:pPr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599561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539640" y="589919"/>
            <a:ext cx="362967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Delimitadores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539640" y="1074667"/>
            <a:ext cx="698492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</a:p>
          <a:p>
            <a:pPr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os parênteses, que servem para evitar ambiguidades na linguagem. </a:t>
            </a:r>
          </a:p>
          <a:p>
            <a:pPr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- parênteses esquerdo;</a:t>
            </a:r>
          </a:p>
          <a:p>
            <a:pPr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-  parênteses direito.</a:t>
            </a:r>
          </a:p>
          <a:p>
            <a:pPr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6629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539639" y="589919"/>
            <a:ext cx="575071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 para a formação de fórmulas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539640" y="1074667"/>
            <a:ext cx="698492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>
              <a:lnSpc>
                <a:spcPct val="120000"/>
              </a:lnSpc>
            </a:pPr>
            <a:endParaRPr lang="pt-BR" sz="1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proposição é uma fórmula.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é uma fórmula, ~A é uma fórmula.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e B são fórmulas, então A ou B, A e B, Se A então B, e A se, e somente se B, também são formulas.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há fórmulas além das obtidas pelo uso das regras 1, 2 e 3. </a:t>
            </a: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6726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362967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4026310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uma proposição composta A é formada pelas proposições simples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temos: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1217231" y="1713240"/>
          <a:ext cx="221708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24858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2320725"/>
                  </a:ext>
                </a:extLst>
              </a:tr>
            </a:tbl>
          </a:graphicData>
        </a:graphic>
      </p:graphicFrame>
      <p:sp>
        <p:nvSpPr>
          <p:cNvPr id="7" name="Google Shape;119;p8">
            <a:extLst>
              <a:ext uri="{FF2B5EF4-FFF2-40B4-BE49-F238E27FC236}">
                <a16:creationId xmlns:a16="http://schemas.microsoft.com/office/drawing/2014/main" id="{96665A21-6E76-4EB1-A376-A0A413E41636}"/>
              </a:ext>
            </a:extLst>
          </p:cNvPr>
          <p:cNvSpPr txBox="1"/>
          <p:nvPr/>
        </p:nvSpPr>
        <p:spPr>
          <a:xfrm>
            <a:off x="4572000" y="720994"/>
            <a:ext cx="4173794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uma proposição composta A é formada pelas proposições simples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e r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temos: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A783365F-B3E5-43D3-8A1A-F28450E4B158}"/>
              </a:ext>
            </a:extLst>
          </p:cNvPr>
          <p:cNvGraphicFramePr>
            <a:graphicFrameLocks noGrp="1"/>
          </p:cNvGraphicFramePr>
          <p:nvPr/>
        </p:nvGraphicFramePr>
        <p:xfrm>
          <a:off x="5208236" y="1317969"/>
          <a:ext cx="2640364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091">
                  <a:extLst>
                    <a:ext uri="{9D8B030D-6E8A-4147-A177-3AD203B41FA5}">
                      <a16:colId xmlns:a16="http://schemas.microsoft.com/office/drawing/2014/main" val="3219240585"/>
                    </a:ext>
                  </a:extLst>
                </a:gridCol>
                <a:gridCol w="660091">
                  <a:extLst>
                    <a:ext uri="{9D8B030D-6E8A-4147-A177-3AD203B41FA5}">
                      <a16:colId xmlns:a16="http://schemas.microsoft.com/office/drawing/2014/main" val="34693957"/>
                    </a:ext>
                  </a:extLst>
                </a:gridCol>
                <a:gridCol w="660091">
                  <a:extLst>
                    <a:ext uri="{9D8B030D-6E8A-4147-A177-3AD203B41FA5}">
                      <a16:colId xmlns:a16="http://schemas.microsoft.com/office/drawing/2014/main" val="1981287504"/>
                    </a:ext>
                  </a:extLst>
                </a:gridCol>
                <a:gridCol w="660091">
                  <a:extLst>
                    <a:ext uri="{9D8B030D-6E8A-4147-A177-3AD203B41FA5}">
                      <a16:colId xmlns:a16="http://schemas.microsoft.com/office/drawing/2014/main" val="337984075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8411433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102878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631533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16302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028231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082514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111380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670024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746956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19;p8">
                <a:extLst>
                  <a:ext uri="{FF2B5EF4-FFF2-40B4-BE49-F238E27FC236}">
                    <a16:creationId xmlns:a16="http://schemas.microsoft.com/office/drawing/2014/main" id="{9BA381A1-24F3-46F6-84C6-3B58C399E0E7}"/>
                  </a:ext>
                </a:extLst>
              </p:cNvPr>
              <p:cNvSpPr txBox="1"/>
              <p:nvPr/>
            </p:nvSpPr>
            <p:spPr>
              <a:xfrm>
                <a:off x="2354623" y="3888766"/>
                <a:ext cx="6664016" cy="7127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688" tIns="33844" rIns="67688" bIns="33844" anchor="t" anchorCtr="0"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Sendo </a:t>
                </a:r>
                <a:r>
                  <a:rPr lang="pt-BR" sz="15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</a:t>
                </a: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 quantidade de proposições simples de uma proposição composta, então sua tabela-verdade possui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5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pPr>
                      <m:e>
                        <m:r>
                          <a:rPr lang="pt-BR" sz="15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2</m:t>
                        </m:r>
                      </m:e>
                      <m:sup>
                        <m:r>
                          <a:rPr lang="pt-BR" sz="15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linhas. </a:t>
                </a:r>
              </a:p>
              <a:p>
                <a:pPr algn="just">
                  <a:lnSpc>
                    <a:spcPct val="120000"/>
                  </a:lnSpc>
                </a:pPr>
                <a:endParaRPr lang="pt-BR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9" name="Google Shape;119;p8">
                <a:extLst>
                  <a:ext uri="{FF2B5EF4-FFF2-40B4-BE49-F238E27FC236}">
                    <a16:creationId xmlns:a16="http://schemas.microsoft.com/office/drawing/2014/main" id="{9BA381A1-24F3-46F6-84C6-3B58C399E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623" y="3888766"/>
                <a:ext cx="6664016" cy="712731"/>
              </a:xfrm>
              <a:prstGeom prst="rect">
                <a:avLst/>
              </a:prstGeom>
              <a:blipFill>
                <a:blip r:embed="rId3"/>
                <a:stretch>
                  <a:fillRect l="-732" r="-7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178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539640" y="589919"/>
            <a:ext cx="362967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539640" y="1074667"/>
            <a:ext cx="6667036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analisarmos os possíveis valores de uma fórmula, precisamos analisar todas as possibilidades de valores das fórmulas atômicas que a constituem, e os valores das subfórmulas através das regras dos conectivos.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condensar esse processo em um método mecânico e eficiente, criou-se a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TABELA-VERDADE.</a:t>
            </a:r>
          </a:p>
        </p:txBody>
      </p:sp>
    </p:spTree>
    <p:extLst>
      <p:ext uri="{BB962C8B-B14F-4D97-AF65-F5344CB8AC3E}">
        <p14:creationId xmlns:p14="http://schemas.microsoft.com/office/powerpoint/2010/main" val="3403454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539640" y="589919"/>
            <a:ext cx="362967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539640" y="1074667"/>
            <a:ext cx="698492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Definição: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valor lógico de uma proposição composta é determinado com base no valor lógico das proposições simples que a compõem. Por meio do dispositivo denominado tabela-verdade, figuram todos os possíveis valores lógicos da proposição composta, correspondentes a todas as possíveis atribuições de valores lógicos das proposições simples. </a:t>
            </a:r>
          </a:p>
        </p:txBody>
      </p:sp>
    </p:spTree>
    <p:extLst>
      <p:ext uri="{BB962C8B-B14F-4D97-AF65-F5344CB8AC3E}">
        <p14:creationId xmlns:p14="http://schemas.microsoft.com/office/powerpoint/2010/main" val="656043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1539640" y="589919"/>
            <a:ext cx="505000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Tabela-Verdade: Como Montar?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539640" y="1074667"/>
            <a:ext cx="5467448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montar a tabela-verdade de uma fórmula: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Destrinchar todas as subfórmulas;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Criar uma coluna para cada subfórmula, colocando as mais simples à esquerda, e as mais complexas à direita, partindo das fórmulas atômicas até a fórmula completa.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666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362967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Negação (~)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7854638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 p uma proposição. Chama-se negação de p a proposição ~p, cujo valor lógico é a verdade quando p é falsa e a falsidade quando p é verdadeira. formada pelas proposições simples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temos: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1565413" y="1713240"/>
          <a:ext cx="1129877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48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549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 para a Conjunção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797887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Chama-se de </a:t>
            </a:r>
            <a:r>
              <a:rPr lang="pt-BR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conjunção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duas premissas p e q a proposição representada por 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p^q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cujo valor lógico é verdade quando as proposições p e q são ambas verdadeiras e falsidade nos demais casos.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4116393" y="1572204"/>
          <a:ext cx="221708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/>
                        <a:t>p^q</a:t>
                      </a:r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24858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2320725"/>
                  </a:ext>
                </a:extLst>
              </a:tr>
            </a:tbl>
          </a:graphicData>
        </a:graphic>
      </p:graphicFrame>
      <p:sp>
        <p:nvSpPr>
          <p:cNvPr id="9" name="Google Shape;119;p8">
            <a:extLst>
              <a:ext uri="{FF2B5EF4-FFF2-40B4-BE49-F238E27FC236}">
                <a16:creationId xmlns:a16="http://schemas.microsoft.com/office/drawing/2014/main" id="{9BA381A1-24F3-46F6-84C6-3B58C399E0E7}"/>
              </a:ext>
            </a:extLst>
          </p:cNvPr>
          <p:cNvSpPr txBox="1"/>
          <p:nvPr/>
        </p:nvSpPr>
        <p:spPr>
          <a:xfrm>
            <a:off x="2679088" y="3229943"/>
            <a:ext cx="6664016" cy="71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conjunção traduz a ideia de “simultaneidade”.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19;p8">
            <a:extLst>
              <a:ext uri="{FF2B5EF4-FFF2-40B4-BE49-F238E27FC236}">
                <a16:creationId xmlns:a16="http://schemas.microsoft.com/office/drawing/2014/main" id="{591BFF43-9152-41BF-9CB1-19F32A21E077}"/>
              </a:ext>
            </a:extLst>
          </p:cNvPr>
          <p:cNvSpPr txBox="1"/>
          <p:nvPr/>
        </p:nvSpPr>
        <p:spPr>
          <a:xfrm>
            <a:off x="596518" y="1777204"/>
            <a:ext cx="3179069" cy="71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Fernando fala inglês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Fernando fala alemão</a:t>
            </a:r>
          </a:p>
          <a:p>
            <a:pPr algn="just">
              <a:lnSpc>
                <a:spcPct val="120000"/>
              </a:lnSpc>
            </a:pP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p^q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Fernando fala inglês e alemão.</a:t>
            </a:r>
          </a:p>
        </p:txBody>
      </p:sp>
    </p:spTree>
    <p:extLst>
      <p:ext uri="{BB962C8B-B14F-4D97-AF65-F5344CB8AC3E}">
        <p14:creationId xmlns:p14="http://schemas.microsoft.com/office/powerpoint/2010/main" val="192748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 para a Disjunção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797887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Chama-se de disjunção de duas premissas p e q a proposição representada por p V q, cujo valor lógico é a falsidade quando as proposições p e q são ambas falsas e verdade nos demais casos.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4116393" y="1572204"/>
          <a:ext cx="221708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/>
                        <a:t>pVq</a:t>
                      </a:r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24858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2320725"/>
                  </a:ext>
                </a:extLst>
              </a:tr>
            </a:tbl>
          </a:graphicData>
        </a:graphic>
      </p:graphicFrame>
      <p:sp>
        <p:nvSpPr>
          <p:cNvPr id="10" name="Google Shape;119;p8">
            <a:extLst>
              <a:ext uri="{FF2B5EF4-FFF2-40B4-BE49-F238E27FC236}">
                <a16:creationId xmlns:a16="http://schemas.microsoft.com/office/drawing/2014/main" id="{591BFF43-9152-41BF-9CB1-19F32A21E077}"/>
              </a:ext>
            </a:extLst>
          </p:cNvPr>
          <p:cNvSpPr txBox="1"/>
          <p:nvPr/>
        </p:nvSpPr>
        <p:spPr>
          <a:xfrm>
            <a:off x="596518" y="1777204"/>
            <a:ext cx="3179069" cy="71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Fernando fala inglês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Fernando fala alemão</a:t>
            </a:r>
          </a:p>
          <a:p>
            <a:pPr algn="just">
              <a:lnSpc>
                <a:spcPct val="120000"/>
              </a:lnSpc>
            </a:pP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pVq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Fernando fala inglês ou alemão.</a:t>
            </a:r>
          </a:p>
        </p:txBody>
      </p:sp>
    </p:spTree>
    <p:extLst>
      <p:ext uri="{BB962C8B-B14F-4D97-AF65-F5344CB8AC3E}">
        <p14:creationId xmlns:p14="http://schemas.microsoft.com/office/powerpoint/2010/main" val="38896106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 para a Disjunção Exclusiva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797887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Chama-se de disjunção exclusiva de duas premissas p e q a proposição representada por p </a:t>
            </a:r>
            <a:r>
              <a:rPr lang="pt-BR" sz="15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q, cujo valor lógico é a falsidade quando as proposições p e q são ambas verdadeiras ou ambas falsas e verdade nos demais casos.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4116393" y="1572204"/>
          <a:ext cx="221708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</a:t>
                      </a:r>
                      <a:r>
                        <a:rPr lang="pt-BR" sz="1100" b="1" u="sng" dirty="0"/>
                        <a:t>V </a:t>
                      </a:r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24858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2320725"/>
                  </a:ext>
                </a:extLst>
              </a:tr>
            </a:tbl>
          </a:graphicData>
        </a:graphic>
      </p:graphicFrame>
      <p:sp>
        <p:nvSpPr>
          <p:cNvPr id="10" name="Google Shape;119;p8">
            <a:extLst>
              <a:ext uri="{FF2B5EF4-FFF2-40B4-BE49-F238E27FC236}">
                <a16:creationId xmlns:a16="http://schemas.microsoft.com/office/drawing/2014/main" id="{591BFF43-9152-41BF-9CB1-19F32A21E077}"/>
              </a:ext>
            </a:extLst>
          </p:cNvPr>
          <p:cNvSpPr txBox="1"/>
          <p:nvPr/>
        </p:nvSpPr>
        <p:spPr>
          <a:xfrm>
            <a:off x="596518" y="1777204"/>
            <a:ext cx="3179069" cy="71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Vou para Maceió de carro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Vou para Maceió de ônibus</a:t>
            </a:r>
          </a:p>
          <a:p>
            <a:pPr algn="just">
              <a:lnSpc>
                <a:spcPct val="120000"/>
              </a:lnSpc>
            </a:pP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1500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Ou vou para Maceió de carro ou vou de ônibus.</a:t>
            </a:r>
          </a:p>
        </p:txBody>
      </p:sp>
    </p:spTree>
    <p:extLst>
      <p:ext uri="{BB962C8B-B14F-4D97-AF65-F5344CB8AC3E}">
        <p14:creationId xmlns:p14="http://schemas.microsoft.com/office/powerpoint/2010/main" val="1344423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 para a Condicional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797887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Chama-se de proposição condicional de duas premissas p e q a proposição representada por p → q, cujo valor lógico é a falsidade quando p é verdadeira e q é falsa e verdade nos demais casos.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4116393" y="1572204"/>
          <a:ext cx="221708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</a:t>
                      </a:r>
                      <a:r>
                        <a:rPr lang="pt-BR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</a:t>
                      </a:r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24858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2320725"/>
                  </a:ext>
                </a:extLst>
              </a:tr>
            </a:tbl>
          </a:graphicData>
        </a:graphic>
      </p:graphicFrame>
      <p:sp>
        <p:nvSpPr>
          <p:cNvPr id="10" name="Google Shape;119;p8">
            <a:extLst>
              <a:ext uri="{FF2B5EF4-FFF2-40B4-BE49-F238E27FC236}">
                <a16:creationId xmlns:a16="http://schemas.microsoft.com/office/drawing/2014/main" id="{591BFF43-9152-41BF-9CB1-19F32A21E077}"/>
              </a:ext>
            </a:extLst>
          </p:cNvPr>
          <p:cNvSpPr txBox="1"/>
          <p:nvPr/>
        </p:nvSpPr>
        <p:spPr>
          <a:xfrm>
            <a:off x="596518" y="1777204"/>
            <a:ext cx="3179069" cy="71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Luiz nasceu em Aracaju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Luiz é Sergipano.</a:t>
            </a:r>
          </a:p>
          <a:p>
            <a:pPr algn="just">
              <a:lnSpc>
                <a:spcPct val="120000"/>
              </a:lnSpc>
            </a:pP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p→q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 Luiz nasceu em Aracaju, então Luiz é sergipano.</a:t>
            </a:r>
          </a:p>
        </p:txBody>
      </p:sp>
    </p:spTree>
    <p:extLst>
      <p:ext uri="{BB962C8B-B14F-4D97-AF65-F5344CB8AC3E}">
        <p14:creationId xmlns:p14="http://schemas.microsoft.com/office/powerpoint/2010/main" val="1210150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 para a Bicondicional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79323" y="720994"/>
            <a:ext cx="7978877" cy="25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Chama-se de proposição bicondicional de duas premissas p e q, uma proposição na forma “p se e somente se q”, representada por p ↔ q, cujo valor lógico é a verdade quando p e q são ambas verdadeiras ou ambas falsas e falsidade demais casos.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30129B94-DF77-4396-B730-19AA8B5A7903}"/>
              </a:ext>
            </a:extLst>
          </p:cNvPr>
          <p:cNvGraphicFramePr>
            <a:graphicFrameLocks noGrp="1"/>
          </p:cNvGraphicFramePr>
          <p:nvPr/>
        </p:nvGraphicFramePr>
        <p:xfrm>
          <a:off x="4910514" y="1831029"/>
          <a:ext cx="221708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</a:t>
                      </a:r>
                      <a:r>
                        <a:rPr lang="pt-BR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↔ </a:t>
                      </a:r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24858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2320725"/>
                  </a:ext>
                </a:extLst>
              </a:tr>
            </a:tbl>
          </a:graphicData>
        </a:graphic>
      </p:graphicFrame>
      <p:sp>
        <p:nvSpPr>
          <p:cNvPr id="10" name="Google Shape;119;p8">
            <a:extLst>
              <a:ext uri="{FF2B5EF4-FFF2-40B4-BE49-F238E27FC236}">
                <a16:creationId xmlns:a16="http://schemas.microsoft.com/office/drawing/2014/main" id="{591BFF43-9152-41BF-9CB1-19F32A21E077}"/>
              </a:ext>
            </a:extLst>
          </p:cNvPr>
          <p:cNvSpPr txBox="1"/>
          <p:nvPr/>
        </p:nvSpPr>
        <p:spPr>
          <a:xfrm>
            <a:off x="596518" y="1777204"/>
            <a:ext cx="3378173" cy="71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Marina é minha tia.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Marina é irmã de um de meus pais.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↔ q: Marina é minha tia se, e somente se, é irmão de um de meus pais.</a:t>
            </a:r>
          </a:p>
        </p:txBody>
      </p:sp>
    </p:spTree>
    <p:extLst>
      <p:ext uri="{BB962C8B-B14F-4D97-AF65-F5344CB8AC3E}">
        <p14:creationId xmlns:p14="http://schemas.microsoft.com/office/powerpoint/2010/main" val="10056115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Tautologia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Dizemos que uma fórmula é uma tautologia, se for verdadeira para qualquer valoração.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19;p8">
            <a:extLst>
              <a:ext uri="{FF2B5EF4-FFF2-40B4-BE49-F238E27FC236}">
                <a16:creationId xmlns:a16="http://schemas.microsoft.com/office/drawing/2014/main" id="{591BFF43-9152-41BF-9CB1-19F32A21E077}"/>
              </a:ext>
            </a:extLst>
          </p:cNvPr>
          <p:cNvSpPr txBox="1"/>
          <p:nvPr/>
        </p:nvSpPr>
        <p:spPr>
          <a:xfrm>
            <a:off x="622340" y="1153193"/>
            <a:ext cx="1372392" cy="36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v ~p e p → p</a:t>
            </a:r>
          </a:p>
        </p:txBody>
      </p:sp>
      <p:sp>
        <p:nvSpPr>
          <p:cNvPr id="8" name="Google Shape;119;p8">
            <a:extLst>
              <a:ext uri="{FF2B5EF4-FFF2-40B4-BE49-F238E27FC236}">
                <a16:creationId xmlns:a16="http://schemas.microsoft.com/office/drawing/2014/main" id="{CCE5861A-CFE4-4402-BEC3-DB3FF5963A03}"/>
              </a:ext>
            </a:extLst>
          </p:cNvPr>
          <p:cNvSpPr txBox="1"/>
          <p:nvPr/>
        </p:nvSpPr>
        <p:spPr>
          <a:xfrm>
            <a:off x="390832" y="2164441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 situação oposta à tautologia é o que ocorre com a fórmula p^~p. Não importa qual a valoração tomamos, p^~p será sempre falsa . Chamamos tal tipo de </a:t>
            </a:r>
            <a:r>
              <a:rPr lang="pt-BR" sz="15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contradição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Dizemos que uma formula é uma contradição  se for falsa para qualquer valoração.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ela 2">
            <a:extLst>
              <a:ext uri="{FF2B5EF4-FFF2-40B4-BE49-F238E27FC236}">
                <a16:creationId xmlns:a16="http://schemas.microsoft.com/office/drawing/2014/main" id="{0BE5F2EC-7BEB-4960-B62E-EC48BFB4F4A8}"/>
              </a:ext>
            </a:extLst>
          </p:cNvPr>
          <p:cNvGraphicFramePr>
            <a:graphicFrameLocks noGrp="1"/>
          </p:cNvGraphicFramePr>
          <p:nvPr/>
        </p:nvGraphicFramePr>
        <p:xfrm>
          <a:off x="3187245" y="3184481"/>
          <a:ext cx="2217087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p^~p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</a:tbl>
          </a:graphicData>
        </a:graphic>
      </p:graphicFrame>
      <p:graphicFrame>
        <p:nvGraphicFramePr>
          <p:cNvPr id="12" name="Tabela 2">
            <a:extLst>
              <a:ext uri="{FF2B5EF4-FFF2-40B4-BE49-F238E27FC236}">
                <a16:creationId xmlns:a16="http://schemas.microsoft.com/office/drawing/2014/main" id="{5462B45A-CA8A-4070-B286-2B473F791EF8}"/>
              </a:ext>
            </a:extLst>
          </p:cNvPr>
          <p:cNvGraphicFramePr>
            <a:graphicFrameLocks noGrp="1"/>
          </p:cNvGraphicFramePr>
          <p:nvPr/>
        </p:nvGraphicFramePr>
        <p:xfrm>
          <a:off x="2163183" y="1208498"/>
          <a:ext cx="2217087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v ~p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</a:tbl>
          </a:graphicData>
        </a:graphic>
      </p:graphicFrame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25FB15C2-0654-4383-9714-A0A0F4105161}"/>
              </a:ext>
            </a:extLst>
          </p:cNvPr>
          <p:cNvGraphicFramePr>
            <a:graphicFrameLocks noGrp="1"/>
          </p:cNvGraphicFramePr>
          <p:nvPr/>
        </p:nvGraphicFramePr>
        <p:xfrm>
          <a:off x="4624409" y="1208498"/>
          <a:ext cx="221708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</a:t>
                      </a:r>
                      <a:r>
                        <a:rPr lang="pt-BR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</a:t>
                      </a:r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78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Propriedades da Conjunção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Idempotente: p ^ p é equivalente a p;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Comutativa: p ^ q é equivalente a q ^ p;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Associativa: (p ^ q) ^ r é equivalente a p ^ (q ^ r)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Identidade: p ^ t é equivalente p e p ^ c é equivalente a c, onde t é uma tautologia e c uma contradição.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ela 2">
            <a:extLst>
              <a:ext uri="{FF2B5EF4-FFF2-40B4-BE49-F238E27FC236}">
                <a16:creationId xmlns:a16="http://schemas.microsoft.com/office/drawing/2014/main" id="{0BE5F2EC-7BEB-4960-B62E-EC48BFB4F4A8}"/>
              </a:ext>
            </a:extLst>
          </p:cNvPr>
          <p:cNvGraphicFramePr>
            <a:graphicFrameLocks noGrp="1"/>
          </p:cNvGraphicFramePr>
          <p:nvPr/>
        </p:nvGraphicFramePr>
        <p:xfrm>
          <a:off x="2354913" y="2078351"/>
          <a:ext cx="2217087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c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</a:tbl>
          </a:graphicData>
        </a:graphic>
      </p:graphicFrame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3017453-18DA-4301-8819-60E2A961A30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078351"/>
          <a:ext cx="739029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34001225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666605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3959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697288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13966B4-23E2-45E8-8C5E-04FC27B963B9}"/>
              </a:ext>
            </a:extLst>
          </p:cNvPr>
          <p:cNvGraphicFramePr>
            <a:graphicFrameLocks noGrp="1"/>
          </p:cNvGraphicFramePr>
          <p:nvPr/>
        </p:nvGraphicFramePr>
        <p:xfrm>
          <a:off x="5274113" y="2078351"/>
          <a:ext cx="739029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34001225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c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666605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3959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697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8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Propriedades da Disjunção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Idempotente: p v p é equivalente a p;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Comutativa: p v q é equivalente a q v p;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Associativa: (p v q) v r é equivalente a p v (q v r)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Identidade: p v t é equivalente t e p v c é equivalente a p, onde t é uma tautologia e c uma contradição.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ela 2">
            <a:extLst>
              <a:ext uri="{FF2B5EF4-FFF2-40B4-BE49-F238E27FC236}">
                <a16:creationId xmlns:a16="http://schemas.microsoft.com/office/drawing/2014/main" id="{0BE5F2EC-7BEB-4960-B62E-EC48BFB4F4A8}"/>
              </a:ext>
            </a:extLst>
          </p:cNvPr>
          <p:cNvGraphicFramePr>
            <a:graphicFrameLocks noGrp="1"/>
          </p:cNvGraphicFramePr>
          <p:nvPr/>
        </p:nvGraphicFramePr>
        <p:xfrm>
          <a:off x="2354913" y="2078351"/>
          <a:ext cx="2217087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226939686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3520054510"/>
                    </a:ext>
                  </a:extLst>
                </a:gridCol>
                <a:gridCol w="739029">
                  <a:extLst>
                    <a:ext uri="{9D8B030D-6E8A-4147-A177-3AD203B41FA5}">
                      <a16:colId xmlns:a16="http://schemas.microsoft.com/office/drawing/2014/main" val="7707586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c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754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60260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2896101"/>
                  </a:ext>
                </a:extLst>
              </a:tr>
            </a:tbl>
          </a:graphicData>
        </a:graphic>
      </p:graphicFrame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3017453-18DA-4301-8819-60E2A961A30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078351"/>
          <a:ext cx="739029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34001225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v 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666605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3959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697288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13966B4-23E2-45E8-8C5E-04FC27B963B9}"/>
              </a:ext>
            </a:extLst>
          </p:cNvPr>
          <p:cNvGraphicFramePr>
            <a:graphicFrameLocks noGrp="1"/>
          </p:cNvGraphicFramePr>
          <p:nvPr/>
        </p:nvGraphicFramePr>
        <p:xfrm>
          <a:off x="5274113" y="2078351"/>
          <a:ext cx="739029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029">
                  <a:extLst>
                    <a:ext uri="{9D8B030D-6E8A-4147-A177-3AD203B41FA5}">
                      <a16:colId xmlns:a16="http://schemas.microsoft.com/office/drawing/2014/main" val="34001225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v c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5666605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3959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697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5595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Propriedades da Conjunção e da Disjunção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Distributivas: 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^ ( q v r ) é equivalente a (p ^ q) v (p ^ r )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v ( q ^ r ) é equivalente a (p v q) ^ (p v r )</a:t>
            </a: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92591297-0429-4416-A749-15E9263D0261}"/>
              </a:ext>
            </a:extLst>
          </p:cNvPr>
          <p:cNvGraphicFramePr>
            <a:graphicFrameLocks noGrp="1"/>
          </p:cNvGraphicFramePr>
          <p:nvPr/>
        </p:nvGraphicFramePr>
        <p:xfrm>
          <a:off x="2719491" y="1785140"/>
          <a:ext cx="4541044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944416601"/>
                    </a:ext>
                  </a:extLst>
                </a:gridCol>
                <a:gridCol w="263366">
                  <a:extLst>
                    <a:ext uri="{9D8B030D-6E8A-4147-A177-3AD203B41FA5}">
                      <a16:colId xmlns:a16="http://schemas.microsoft.com/office/drawing/2014/main" val="1790877702"/>
                    </a:ext>
                  </a:extLst>
                </a:gridCol>
                <a:gridCol w="263366">
                  <a:extLst>
                    <a:ext uri="{9D8B030D-6E8A-4147-A177-3AD203B41FA5}">
                      <a16:colId xmlns:a16="http://schemas.microsoft.com/office/drawing/2014/main" val="479214510"/>
                    </a:ext>
                  </a:extLst>
                </a:gridCol>
                <a:gridCol w="455057">
                  <a:extLst>
                    <a:ext uri="{9D8B030D-6E8A-4147-A177-3AD203B41FA5}">
                      <a16:colId xmlns:a16="http://schemas.microsoft.com/office/drawing/2014/main" val="2165674927"/>
                    </a:ext>
                  </a:extLst>
                </a:gridCol>
                <a:gridCol w="786050">
                  <a:extLst>
                    <a:ext uri="{9D8B030D-6E8A-4147-A177-3AD203B41FA5}">
                      <a16:colId xmlns:a16="http://schemas.microsoft.com/office/drawing/2014/main" val="1546070777"/>
                    </a:ext>
                  </a:extLst>
                </a:gridCol>
                <a:gridCol w="487204">
                  <a:extLst>
                    <a:ext uri="{9D8B030D-6E8A-4147-A177-3AD203B41FA5}">
                      <a16:colId xmlns:a16="http://schemas.microsoft.com/office/drawing/2014/main" val="4087299621"/>
                    </a:ext>
                  </a:extLst>
                </a:gridCol>
                <a:gridCol w="505364">
                  <a:extLst>
                    <a:ext uri="{9D8B030D-6E8A-4147-A177-3AD203B41FA5}">
                      <a16:colId xmlns:a16="http://schemas.microsoft.com/office/drawing/2014/main" val="1464328752"/>
                    </a:ext>
                  </a:extLst>
                </a:gridCol>
                <a:gridCol w="1018637">
                  <a:extLst>
                    <a:ext uri="{9D8B030D-6E8A-4147-A177-3AD203B41FA5}">
                      <a16:colId xmlns:a16="http://schemas.microsoft.com/office/drawing/2014/main" val="164854687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 v 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 ^ ( q v r ) </a:t>
                      </a:r>
                      <a:endParaRPr lang="pt-BR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r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 ^ q) v (p ^ r 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3410677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683793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470320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652698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960631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76350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856939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8188884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20342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208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Propriedades da Conjunção e da Disjunção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Absorção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^ (p v q ) é equivalente a p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v ( p ^ q ) é equivalente a p</a:t>
            </a: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92591297-0429-4416-A749-15E9263D0261}"/>
              </a:ext>
            </a:extLst>
          </p:cNvPr>
          <p:cNvGraphicFramePr>
            <a:graphicFrameLocks noGrp="1"/>
          </p:cNvGraphicFramePr>
          <p:nvPr/>
        </p:nvGraphicFramePr>
        <p:xfrm>
          <a:off x="2719490" y="1785140"/>
          <a:ext cx="2044238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66">
                  <a:extLst>
                    <a:ext uri="{9D8B030D-6E8A-4147-A177-3AD203B41FA5}">
                      <a16:colId xmlns:a16="http://schemas.microsoft.com/office/drawing/2014/main" val="2944416601"/>
                    </a:ext>
                  </a:extLst>
                </a:gridCol>
                <a:gridCol w="263366">
                  <a:extLst>
                    <a:ext uri="{9D8B030D-6E8A-4147-A177-3AD203B41FA5}">
                      <a16:colId xmlns:a16="http://schemas.microsoft.com/office/drawing/2014/main" val="1790877702"/>
                    </a:ext>
                  </a:extLst>
                </a:gridCol>
                <a:gridCol w="628040">
                  <a:extLst>
                    <a:ext uri="{9D8B030D-6E8A-4147-A177-3AD203B41FA5}">
                      <a16:colId xmlns:a16="http://schemas.microsoft.com/office/drawing/2014/main" val="479214510"/>
                    </a:ext>
                  </a:extLst>
                </a:gridCol>
                <a:gridCol w="889466">
                  <a:extLst>
                    <a:ext uri="{9D8B030D-6E8A-4147-A177-3AD203B41FA5}">
                      <a16:colId xmlns:a16="http://schemas.microsoft.com/office/drawing/2014/main" val="216567492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v q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 ^ (p v q ) </a:t>
                      </a:r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3410677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683793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470320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652698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19606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2015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 de Morgan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46588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Negação da conjunção: 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~(p ^ q) é equivalente a ~p v ~q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E7D6AB94-ED4A-437A-BD16-C6080414C8F5}"/>
              </a:ext>
            </a:extLst>
          </p:cNvPr>
          <p:cNvGraphicFramePr>
            <a:graphicFrameLocks noGrp="1"/>
          </p:cNvGraphicFramePr>
          <p:nvPr/>
        </p:nvGraphicFramePr>
        <p:xfrm>
          <a:off x="1420762" y="1483646"/>
          <a:ext cx="6095999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55899052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631145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8470963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4049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5809685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6097522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5919580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~(p ^q)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 v ~q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118117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556782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53707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5207784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07330392"/>
                  </a:ext>
                </a:extLst>
              </a:tr>
            </a:tbl>
          </a:graphicData>
        </a:graphic>
      </p:graphicFrame>
      <p:sp>
        <p:nvSpPr>
          <p:cNvPr id="8" name="Google Shape;119;p8">
            <a:extLst>
              <a:ext uri="{FF2B5EF4-FFF2-40B4-BE49-F238E27FC236}">
                <a16:creationId xmlns:a16="http://schemas.microsoft.com/office/drawing/2014/main" id="{CDF7C96F-90E7-436C-B362-1BC6A0CBF378}"/>
              </a:ext>
            </a:extLst>
          </p:cNvPr>
          <p:cNvSpPr txBox="1"/>
          <p:nvPr/>
        </p:nvSpPr>
        <p:spPr>
          <a:xfrm>
            <a:off x="2461162" y="3057488"/>
            <a:ext cx="4799373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Carlos é inteligente.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Carlos estuda.</a:t>
            </a:r>
          </a:p>
          <a:p>
            <a:pPr algn="just">
              <a:lnSpc>
                <a:spcPct val="120000"/>
              </a:lnSpc>
            </a:pP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p^q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Carlos é inteligente e estuda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p^q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Carlos não é inteligente ou não estuda.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44237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 de Morgan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46588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Negação da disjunção: 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~(p v q) é equivalente a ~p ^ ~q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E7D6AB94-ED4A-437A-BD16-C6080414C8F5}"/>
              </a:ext>
            </a:extLst>
          </p:cNvPr>
          <p:cNvGraphicFramePr>
            <a:graphicFrameLocks noGrp="1"/>
          </p:cNvGraphicFramePr>
          <p:nvPr/>
        </p:nvGraphicFramePr>
        <p:xfrm>
          <a:off x="1420762" y="1483646"/>
          <a:ext cx="6095999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55899052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631145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8470963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4049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5809685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6097522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5919580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~(p ^q)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 ^~q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118117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556782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53707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5207784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07330392"/>
                  </a:ext>
                </a:extLst>
              </a:tr>
            </a:tbl>
          </a:graphicData>
        </a:graphic>
      </p:graphicFrame>
      <p:sp>
        <p:nvSpPr>
          <p:cNvPr id="8" name="Google Shape;119;p8">
            <a:extLst>
              <a:ext uri="{FF2B5EF4-FFF2-40B4-BE49-F238E27FC236}">
                <a16:creationId xmlns:a16="http://schemas.microsoft.com/office/drawing/2014/main" id="{CDF7C96F-90E7-436C-B362-1BC6A0CBF378}"/>
              </a:ext>
            </a:extLst>
          </p:cNvPr>
          <p:cNvSpPr txBox="1"/>
          <p:nvPr/>
        </p:nvSpPr>
        <p:spPr>
          <a:xfrm>
            <a:off x="2461162" y="3057488"/>
            <a:ext cx="4799373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Carlos é médico.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Carlos é professor.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v q: Carlos é médico ou professor.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~(p v q): Carlos não é médico nem professor.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0061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 de Morgan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46588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Negação da condicional e bicondicional: 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~(p → q) é equivalente a p ^ ~q.</a:t>
            </a:r>
          </a:p>
          <a:p>
            <a:pPr marL="342900" indent="-342900" algn="just">
              <a:lnSpc>
                <a:spcPct val="120000"/>
              </a:lnSpc>
              <a:buAutoNum type="arabicPeriod"/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~(p ↔ q ) é equivalente a (p ^~q) v (~p ^q)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3" indent="-342900" algn="just">
              <a:lnSpc>
                <a:spcPct val="120000"/>
              </a:lnSpc>
              <a:buAutoNum type="arabicPeriod"/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E7D6AB94-ED4A-437A-BD16-C6080414C8F5}"/>
              </a:ext>
            </a:extLst>
          </p:cNvPr>
          <p:cNvGraphicFramePr>
            <a:graphicFrameLocks noGrp="1"/>
          </p:cNvGraphicFramePr>
          <p:nvPr/>
        </p:nvGraphicFramePr>
        <p:xfrm>
          <a:off x="1428136" y="1666838"/>
          <a:ext cx="5225142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55899052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631145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8470963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4049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5809685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6097522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→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~(p →q)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~q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118117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556782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53707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5207784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07330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78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construir uma tabela-verdade de qualquer proposição composta, devemos operar inicialmente o que estiver entre parênteses, seguindo a ordem: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 Negações;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 Conjunções (^) ou disjunções (v) na ordem que aparecem;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 Condicionais (→);</a:t>
            </a:r>
          </a:p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 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Bicondicionais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(↔)		</a:t>
            </a:r>
          </a:p>
          <a:p>
            <a:pPr algn="just">
              <a:lnSpc>
                <a:spcPct val="120000"/>
              </a:lnSpc>
            </a:pP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765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Tabela-Verdade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7978877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1: Construir a tabela verdade da proposição: ~(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p^q</a:t>
            </a: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pt-B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</a:t>
            </a:r>
            <a:endParaRPr lang="pt-B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82DD0A32-FBEB-44F7-9B53-50432B7E1165}"/>
              </a:ext>
            </a:extLst>
          </p:cNvPr>
          <p:cNvGraphicFramePr>
            <a:graphicFrameLocks noGrp="1"/>
          </p:cNvGraphicFramePr>
          <p:nvPr/>
        </p:nvGraphicFramePr>
        <p:xfrm>
          <a:off x="1995948" y="1446776"/>
          <a:ext cx="6096000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052138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171906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414190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0100949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5622778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~(</a:t>
                      </a:r>
                      <a:r>
                        <a:rPr lang="pt-BR" sz="1100" b="1" dirty="0" err="1"/>
                        <a:t>p^q</a:t>
                      </a:r>
                      <a:r>
                        <a:rPr lang="pt-BR" sz="1100" b="1" dirty="0"/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~(</a:t>
                      </a:r>
                      <a:r>
                        <a:rPr lang="pt-BR" sz="1100" b="1" dirty="0" err="1"/>
                        <a:t>p^q</a:t>
                      </a:r>
                      <a:r>
                        <a:rPr lang="pt-BR" sz="1100" b="1" dirty="0"/>
                        <a:t>) v 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06714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199642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63634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430857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444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3999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Implicação Lógica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8"/>
              <p:cNvSpPr txBox="1"/>
              <p:nvPr/>
            </p:nvSpPr>
            <p:spPr>
              <a:xfrm>
                <a:off x="390832" y="707518"/>
                <a:ext cx="7978877" cy="37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688" tIns="33844" rIns="67688" bIns="33844" anchor="t" anchorCtr="0"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Dizemos que uma proposição P implica logicamente em uma proposição Q 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P</m:t>
                    </m: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pt-BR" sz="15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groupChrPr>
                      <m:e/>
                    </m:groupCh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r>
                      <m:rPr>
                        <m:sty m:val="p"/>
                      </m:rP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Q</m:t>
                    </m: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) </m:t>
                    </m:r>
                  </m:oMath>
                </a14:m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quando P →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 é ima tautologia. Em outras palavras, sempre que P é verdadeira Q é verdadeira.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Exemplos: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	p ^ q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pt-BR" sz="15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groupChrPr>
                      <m:e/>
                    </m:groupCh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 ↔ q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	p ^ q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pt-BR" sz="15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groupChrPr>
                      <m:e/>
                    </m:groupCh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 v q</a:t>
                </a:r>
              </a:p>
            </p:txBody>
          </p:sp>
        </mc:Choice>
        <mc:Fallback xmlns="">
          <p:sp>
            <p:nvSpPr>
              <p:cNvPr id="119" name="Google Shape;119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" y="707518"/>
                <a:ext cx="7978877" cy="370105"/>
              </a:xfrm>
              <a:prstGeom prst="rect">
                <a:avLst/>
              </a:prstGeom>
              <a:blipFill>
                <a:blip r:embed="rId3"/>
                <a:stretch>
                  <a:fillRect l="-611" t="-6557" b="-4377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AA1A986C-CE14-4341-ADDB-9048961AC3EA}"/>
              </a:ext>
            </a:extLst>
          </p:cNvPr>
          <p:cNvGraphicFramePr>
            <a:graphicFrameLocks noGrp="1"/>
          </p:cNvGraphicFramePr>
          <p:nvPr/>
        </p:nvGraphicFramePr>
        <p:xfrm>
          <a:off x="2018071" y="2569554"/>
          <a:ext cx="6096000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3641257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670554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898945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888561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759685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^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↔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v 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82036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76866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935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8847674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7388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385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 Modus </a:t>
            </a:r>
            <a:r>
              <a:rPr lang="pt-BR" sz="265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Ponens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8"/>
              <p:cNvSpPr txBox="1"/>
              <p:nvPr/>
            </p:nvSpPr>
            <p:spPr>
              <a:xfrm>
                <a:off x="390832" y="707518"/>
                <a:ext cx="7978877" cy="37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688" tIns="33844" rIns="67688" bIns="33844" anchor="t" anchorCtr="0"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	(p → q) ^ p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pt-BR" sz="15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groupChrPr>
                      <m:e/>
                    </m:groupCh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q</a:t>
                </a:r>
              </a:p>
            </p:txBody>
          </p:sp>
        </mc:Choice>
        <mc:Fallback xmlns="">
          <p:sp>
            <p:nvSpPr>
              <p:cNvPr id="119" name="Google Shape;119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" y="707518"/>
                <a:ext cx="7978877" cy="370105"/>
              </a:xfrm>
              <a:prstGeom prst="rect">
                <a:avLst/>
              </a:prstGeom>
              <a:blipFill>
                <a:blip r:embed="rId3"/>
                <a:stretch>
                  <a:fillRect t="-6557" b="-786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AA1A986C-CE14-4341-ADDB-9048961AC3EA}"/>
              </a:ext>
            </a:extLst>
          </p:cNvPr>
          <p:cNvGraphicFramePr>
            <a:graphicFrameLocks noGrp="1"/>
          </p:cNvGraphicFramePr>
          <p:nvPr/>
        </p:nvGraphicFramePr>
        <p:xfrm>
          <a:off x="1959077" y="1478173"/>
          <a:ext cx="6096000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3641257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670554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898945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888561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759685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→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(p → q) ^ 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(p → q) ^ p → q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82036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76866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935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8847674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7388040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FF8AF2CC-ADC8-4959-8467-8139E19C8275}"/>
              </a:ext>
            </a:extLst>
          </p:cNvPr>
          <p:cNvSpPr txBox="1"/>
          <p:nvPr/>
        </p:nvSpPr>
        <p:spPr>
          <a:xfrm>
            <a:off x="1959077" y="3269373"/>
            <a:ext cx="458674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50" b="1" dirty="0"/>
              <a:t>Se chove, então a rua molha.</a:t>
            </a:r>
          </a:p>
          <a:p>
            <a:pPr algn="ctr"/>
            <a:r>
              <a:rPr lang="pt-BR" sz="1050" b="1" dirty="0"/>
              <a:t>Esta chovendo.</a:t>
            </a:r>
          </a:p>
          <a:p>
            <a:pPr algn="ctr"/>
            <a:r>
              <a:rPr lang="pt-BR" sz="1050" b="1" dirty="0"/>
              <a:t>Logo, a rua está molhada.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677111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 Modus </a:t>
            </a:r>
            <a:r>
              <a:rPr lang="pt-BR" sz="2653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Tollens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8"/>
              <p:cNvSpPr txBox="1"/>
              <p:nvPr/>
            </p:nvSpPr>
            <p:spPr>
              <a:xfrm>
                <a:off x="390832" y="707518"/>
                <a:ext cx="7978877" cy="37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688" tIns="33844" rIns="67688" bIns="33844" anchor="t" anchorCtr="0"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	(p → q) ^ ~q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pt-BR" sz="15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groupChrPr>
                      <m:e/>
                    </m:groupCh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~</m:t>
                    </m:r>
                    <m:r>
                      <m:rPr>
                        <m:sty m:val="p"/>
                      </m:rP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p</m:t>
                    </m:r>
                  </m:oMath>
                </a14:m>
                <a:endParaRPr lang="pt-BR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19" name="Google Shape;119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" y="707518"/>
                <a:ext cx="7978877" cy="370105"/>
              </a:xfrm>
              <a:prstGeom prst="rect">
                <a:avLst/>
              </a:prstGeom>
              <a:blipFill>
                <a:blip r:embed="rId3"/>
                <a:stretch>
                  <a:fillRect t="-6557" b="-786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FF8AF2CC-ADC8-4959-8467-8139E19C8275}"/>
              </a:ext>
            </a:extLst>
          </p:cNvPr>
          <p:cNvSpPr txBox="1"/>
          <p:nvPr/>
        </p:nvSpPr>
        <p:spPr>
          <a:xfrm>
            <a:off x="3070123" y="3150594"/>
            <a:ext cx="458674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50" b="1" dirty="0"/>
              <a:t>Se chove, então a rua molha.</a:t>
            </a:r>
          </a:p>
          <a:p>
            <a:pPr algn="ctr"/>
            <a:r>
              <a:rPr lang="pt-BR" sz="1050" b="1" dirty="0"/>
              <a:t>A rua não está molhada.</a:t>
            </a:r>
          </a:p>
          <a:p>
            <a:pPr algn="ctr"/>
            <a:r>
              <a:rPr lang="pt-BR" sz="1050" b="1" dirty="0"/>
              <a:t>Logo, não está chovendo</a:t>
            </a:r>
            <a:endParaRPr lang="pt-BR" sz="1050" dirty="0"/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5981BAE6-39BB-41D8-AEB3-F161C5467348}"/>
              </a:ext>
            </a:extLst>
          </p:cNvPr>
          <p:cNvGraphicFramePr>
            <a:graphicFrameLocks noGrp="1"/>
          </p:cNvGraphicFramePr>
          <p:nvPr/>
        </p:nvGraphicFramePr>
        <p:xfrm>
          <a:off x="1959077" y="1399064"/>
          <a:ext cx="6808838" cy="151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134250976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17829714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33818722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5188634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267554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5574296"/>
                    </a:ext>
                  </a:extLst>
                </a:gridCol>
                <a:gridCol w="1583696">
                  <a:extLst>
                    <a:ext uri="{9D8B030D-6E8A-4147-A177-3AD203B41FA5}">
                      <a16:colId xmlns:a16="http://schemas.microsoft.com/office/drawing/2014/main" val="382927334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→ 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100" b="1" dirty="0"/>
                        <a:t>(p → q)^~q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100" b="1" dirty="0"/>
                        <a:t>(p → q)^~q →~p</a:t>
                      </a:r>
                    </a:p>
                    <a:p>
                      <a:pPr algn="ctr"/>
                      <a:endParaRPr lang="pt-BR" sz="11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150674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7216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230418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0468918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10998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7082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Equivalência Lógica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8"/>
              <p:cNvSpPr txBox="1"/>
              <p:nvPr/>
            </p:nvSpPr>
            <p:spPr>
              <a:xfrm>
                <a:off x="390832" y="707518"/>
                <a:ext cx="8589617" cy="370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688" tIns="33844" rIns="67688" bIns="33844" anchor="t" anchorCtr="0"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pt-BR" sz="15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Definição:</a:t>
                </a: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Dizemos que uma proposição P é logicamente equivalente a uma proposição Q ( P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pt-BR" sz="15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groupChrPr>
                      <m:e/>
                    </m:groupChr>
                    <m:r>
                      <a:rPr lang="pt-BR" sz="15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𝑄</m:t>
                    </m:r>
                    <m:r>
                      <a:rPr lang="pt-BR" sz="15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)</m:t>
                    </m:r>
                    <m:r>
                      <a:rPr lang="pt-BR" sz="15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,</m:t>
                    </m:r>
                  </m:oMath>
                </a14:m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 suas tabelas-verdades são idênticas.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15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Teorema:</a:t>
                </a: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 proposição P é equivalente a proposição Q se P ↔ Q é uma tautologia. </a:t>
                </a:r>
              </a:p>
              <a:p>
                <a:pPr algn="just">
                  <a:lnSpc>
                    <a:spcPct val="120000"/>
                  </a:lnSpc>
                </a:pPr>
                <a:endParaRPr lang="pt-BR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pt-BR" sz="15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Exemplo: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pt-BR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 p ↔ q e B: (p →q) ^(q →q) são equivalentes.</a:t>
                </a:r>
              </a:p>
            </p:txBody>
          </p:sp>
        </mc:Choice>
        <mc:Fallback xmlns="">
          <p:sp>
            <p:nvSpPr>
              <p:cNvPr id="119" name="Google Shape;119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32" y="707518"/>
                <a:ext cx="8589617" cy="370105"/>
              </a:xfrm>
              <a:prstGeom prst="rect">
                <a:avLst/>
              </a:prstGeom>
              <a:blipFill>
                <a:blip r:embed="rId3"/>
                <a:stretch>
                  <a:fillRect l="-568" t="-6557" r="-568" b="-409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DBA0F034-AD32-4CEE-85B7-AEE0E231698E}"/>
              </a:ext>
            </a:extLst>
          </p:cNvPr>
          <p:cNvGraphicFramePr>
            <a:graphicFrameLocks noGrp="1"/>
          </p:cNvGraphicFramePr>
          <p:nvPr/>
        </p:nvGraphicFramePr>
        <p:xfrm>
          <a:off x="2047567" y="2648769"/>
          <a:ext cx="6096000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9622812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468272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50594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507686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346023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454248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 →q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/>
                        <a:t>p→q</a:t>
                      </a:r>
                      <a:endParaRPr lang="pt-BR" sz="11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79231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7058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67490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38271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8185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042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Contrapositiva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8200104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p → q e B: ~q →~p são equivalentes. Dizemos que a proposição B é a contrapositiva da proposição A.</a:t>
            </a: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DBA0F034-AD32-4CEE-85B7-AEE0E231698E}"/>
              </a:ext>
            </a:extLst>
          </p:cNvPr>
          <p:cNvGraphicFramePr>
            <a:graphicFrameLocks noGrp="1"/>
          </p:cNvGraphicFramePr>
          <p:nvPr/>
        </p:nvGraphicFramePr>
        <p:xfrm>
          <a:off x="2040193" y="1557282"/>
          <a:ext cx="6096000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9622812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468272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50594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507686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346023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454248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79231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7058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67490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38271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8185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9012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/>
        </p:nvSpPr>
        <p:spPr>
          <a:xfrm>
            <a:off x="809595" y="141584"/>
            <a:ext cx="645094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r>
              <a:rPr lang="pt-BR" sz="265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Redução ao Absurdo</a:t>
            </a:r>
            <a:endParaRPr sz="265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390832" y="707518"/>
            <a:ext cx="8200104" cy="37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88" tIns="33844" rIns="67688" bIns="33844" anchor="t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pt-B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p → q e B: ~(p^~q) são equivalentes. </a:t>
            </a: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DBA0F034-AD32-4CEE-85B7-AEE0E231698E}"/>
              </a:ext>
            </a:extLst>
          </p:cNvPr>
          <p:cNvGraphicFramePr>
            <a:graphicFrameLocks noGrp="1"/>
          </p:cNvGraphicFramePr>
          <p:nvPr/>
        </p:nvGraphicFramePr>
        <p:xfrm>
          <a:off x="2040194" y="1557282"/>
          <a:ext cx="5080000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96228128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468272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50594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346023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454248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~q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79231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7058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67490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38271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/>
                        <a:t>V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0000"/>
                          </a:solidFill>
                        </a:rPr>
                        <a:t>V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8185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70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2329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547350" y="432350"/>
            <a:ext cx="804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666666"/>
                </a:solidFill>
                <a:latin typeface="Roboto Black"/>
                <a:ea typeface="Roboto Black"/>
                <a:cs typeface="Roboto Black"/>
                <a:sym typeface="Roboto Black"/>
              </a:rPr>
              <a:t>Algumas marcas que você poderá utilizar:</a:t>
            </a:r>
            <a:endParaRPr sz="2800">
              <a:solidFill>
                <a:srgbClr val="666666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 rotWithShape="1">
          <a:blip r:embed="rId3">
            <a:alphaModFix/>
          </a:blip>
          <a:srcRect l="28158" t="38763" r="28158" b="36790"/>
          <a:stretch/>
        </p:blipFill>
        <p:spPr>
          <a:xfrm>
            <a:off x="3181200" y="1384825"/>
            <a:ext cx="913975" cy="5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 rotWithShape="1">
          <a:blip r:embed="rId4">
            <a:alphaModFix/>
          </a:blip>
          <a:srcRect l="27349" t="36302" r="27354" b="36302"/>
          <a:stretch/>
        </p:blipFill>
        <p:spPr>
          <a:xfrm>
            <a:off x="5045863" y="2791625"/>
            <a:ext cx="94772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 rotWithShape="1">
          <a:blip r:embed="rId5">
            <a:alphaModFix/>
          </a:blip>
          <a:srcRect l="27387" t="36324" r="27387" b="36324"/>
          <a:stretch/>
        </p:blipFill>
        <p:spPr>
          <a:xfrm>
            <a:off x="4081263" y="2791625"/>
            <a:ext cx="94772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6">
            <a:alphaModFix/>
          </a:blip>
          <a:srcRect l="28175" t="37787" r="28175" b="37787"/>
          <a:stretch/>
        </p:blipFill>
        <p:spPr>
          <a:xfrm>
            <a:off x="3150413" y="2822250"/>
            <a:ext cx="913975" cy="5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 rotWithShape="1">
          <a:blip r:embed="rId7">
            <a:alphaModFix/>
          </a:blip>
          <a:srcRect l="27387" t="37786" r="27387" b="37788"/>
          <a:stretch/>
        </p:blipFill>
        <p:spPr>
          <a:xfrm>
            <a:off x="6893650" y="2088225"/>
            <a:ext cx="947726" cy="5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 rotWithShape="1">
          <a:blip r:embed="rId8">
            <a:alphaModFix/>
          </a:blip>
          <a:srcRect l="27349" t="37787" r="27354" b="37787"/>
          <a:stretch/>
        </p:blipFill>
        <p:spPr>
          <a:xfrm>
            <a:off x="5945925" y="2088225"/>
            <a:ext cx="947725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 rotWithShape="1">
          <a:blip r:embed="rId9">
            <a:alphaModFix/>
          </a:blip>
          <a:srcRect l="27369" t="37786" r="27369" b="37788"/>
          <a:stretch/>
        </p:blipFill>
        <p:spPr>
          <a:xfrm>
            <a:off x="5020550" y="2088225"/>
            <a:ext cx="947726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 rotWithShape="1">
          <a:blip r:embed="rId10">
            <a:alphaModFix/>
          </a:blip>
          <a:srcRect l="28175" t="37787" r="28175" b="37787"/>
          <a:stretch/>
        </p:blipFill>
        <p:spPr>
          <a:xfrm>
            <a:off x="4106575" y="2088225"/>
            <a:ext cx="913974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 rotWithShape="1">
          <a:blip r:embed="rId11">
            <a:alphaModFix/>
          </a:blip>
          <a:srcRect l="27349" t="37787" r="27354" b="37787"/>
          <a:stretch/>
        </p:blipFill>
        <p:spPr>
          <a:xfrm>
            <a:off x="3175725" y="2088225"/>
            <a:ext cx="947725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 rotWithShape="1">
          <a:blip r:embed="rId12">
            <a:alphaModFix/>
          </a:blip>
          <a:srcRect l="27369" t="37787" r="27369" b="37787"/>
          <a:stretch/>
        </p:blipFill>
        <p:spPr>
          <a:xfrm>
            <a:off x="2216600" y="2088225"/>
            <a:ext cx="947726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 rotWithShape="1">
          <a:blip r:embed="rId13">
            <a:alphaModFix/>
          </a:blip>
          <a:srcRect l="27349" t="37787" r="27354" b="37787"/>
          <a:stretch/>
        </p:blipFill>
        <p:spPr>
          <a:xfrm>
            <a:off x="1302625" y="2088225"/>
            <a:ext cx="947725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14">
            <a:alphaModFix/>
          </a:blip>
          <a:srcRect l="27369" t="37787" r="27369" b="37787"/>
          <a:stretch/>
        </p:blipFill>
        <p:spPr>
          <a:xfrm>
            <a:off x="6893650" y="1354200"/>
            <a:ext cx="947726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15">
            <a:alphaModFix/>
          </a:blip>
          <a:srcRect l="27369" t="37787" r="27369" b="37787"/>
          <a:stretch/>
        </p:blipFill>
        <p:spPr>
          <a:xfrm>
            <a:off x="5979675" y="1354200"/>
            <a:ext cx="947726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16">
            <a:alphaModFix/>
          </a:blip>
          <a:srcRect l="27349" t="36324" r="27354" b="36324"/>
          <a:stretch/>
        </p:blipFill>
        <p:spPr>
          <a:xfrm>
            <a:off x="5020550" y="1323575"/>
            <a:ext cx="947725" cy="572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17">
            <a:alphaModFix/>
          </a:blip>
          <a:srcRect l="28175" t="37787" r="28175" b="37787"/>
          <a:stretch/>
        </p:blipFill>
        <p:spPr>
          <a:xfrm>
            <a:off x="4106575" y="1354200"/>
            <a:ext cx="913974" cy="51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 rotWithShape="1">
          <a:blip r:embed="rId18">
            <a:alphaModFix/>
          </a:blip>
          <a:srcRect l="28175" t="37787" r="28175" b="37787"/>
          <a:stretch/>
        </p:blipFill>
        <p:spPr>
          <a:xfrm>
            <a:off x="2233475" y="1354200"/>
            <a:ext cx="913975" cy="5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19">
            <a:alphaModFix/>
          </a:blip>
          <a:srcRect l="28191" t="37787" r="28195" b="37787"/>
          <a:stretch/>
        </p:blipFill>
        <p:spPr>
          <a:xfrm>
            <a:off x="1319500" y="1354200"/>
            <a:ext cx="913974" cy="5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897737" y="3767125"/>
            <a:ext cx="1530800" cy="6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806682" y="3767125"/>
            <a:ext cx="1530635" cy="6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715463" y="3767169"/>
            <a:ext cx="1530800" cy="69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4609</Words>
  <Application>Microsoft Office PowerPoint</Application>
  <PresentationFormat>Apresentação na tela (16:9)</PresentationFormat>
  <Paragraphs>912</Paragraphs>
  <Slides>65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65</vt:i4>
      </vt:variant>
    </vt:vector>
  </HeadingPairs>
  <TitlesOfParts>
    <vt:vector size="73" baseType="lpstr">
      <vt:lpstr>Roboto Light</vt:lpstr>
      <vt:lpstr>Roboto Black</vt:lpstr>
      <vt:lpstr>Calibri</vt:lpstr>
      <vt:lpstr>Arial</vt:lpstr>
      <vt:lpstr>Cambria Math</vt:lpstr>
      <vt:lpstr>Wingdings</vt:lpstr>
      <vt:lpstr>Simple Light</vt:lpstr>
      <vt:lpstr>1_Simple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Gomes</dc:creator>
  <cp:lastModifiedBy>Carlos Gustavo Pereira Moraes</cp:lastModifiedBy>
  <cp:revision>19</cp:revision>
  <dcterms:modified xsi:type="dcterms:W3CDTF">2023-03-08T18:14:28Z</dcterms:modified>
</cp:coreProperties>
</file>